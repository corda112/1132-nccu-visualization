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28"/>
  </p:notesMasterIdLst>
  <p:sldIdLst>
    <p:sldId id="256" r:id="rId2"/>
    <p:sldId id="260" r:id="rId3"/>
    <p:sldId id="264" r:id="rId4"/>
    <p:sldId id="351" r:id="rId5"/>
    <p:sldId id="345" r:id="rId6"/>
    <p:sldId id="352" r:id="rId7"/>
    <p:sldId id="367" r:id="rId8"/>
    <p:sldId id="353" r:id="rId9"/>
    <p:sldId id="368" r:id="rId10"/>
    <p:sldId id="369" r:id="rId11"/>
    <p:sldId id="370" r:id="rId12"/>
    <p:sldId id="355" r:id="rId13"/>
    <p:sldId id="371" r:id="rId14"/>
    <p:sldId id="346" r:id="rId15"/>
    <p:sldId id="361" r:id="rId16"/>
    <p:sldId id="374" r:id="rId17"/>
    <p:sldId id="358" r:id="rId18"/>
    <p:sldId id="364" r:id="rId19"/>
    <p:sldId id="378" r:id="rId20"/>
    <p:sldId id="347" r:id="rId21"/>
    <p:sldId id="375" r:id="rId22"/>
    <p:sldId id="348" r:id="rId23"/>
    <p:sldId id="362" r:id="rId24"/>
    <p:sldId id="349" r:id="rId25"/>
    <p:sldId id="365" r:id="rId26"/>
    <p:sldId id="366" r:id="rId27"/>
  </p:sldIdLst>
  <p:sldSz cx="9144000" cy="5143500" type="screen16x9"/>
  <p:notesSz cx="6858000" cy="9144000"/>
  <p:embeddedFontLst>
    <p:embeddedFont>
      <p:font typeface="微軟正黑體" panose="020B0604030504040204" pitchFamily="34" charset="-120"/>
      <p:regular r:id="rId29"/>
      <p:bold r:id="rId30"/>
    </p:embeddedFont>
    <p:embeddedFont>
      <p:font typeface="微軟正黑體" panose="020B0604030504040204" pitchFamily="34" charset="-120"/>
      <p:regular r:id="rId29"/>
      <p:bold r:id="rId30"/>
    </p:embeddedFont>
    <p:embeddedFont>
      <p:font typeface="Bebas Neue" panose="020F0502020204030204" pitchFamily="34" charset="0"/>
      <p:regular r:id="rId31"/>
    </p:embeddedFont>
    <p:embeddedFont>
      <p:font typeface="Cambria Math" panose="02040503050406030204" pitchFamily="18" charset="0"/>
      <p:regular r:id="rId32"/>
    </p:embeddedFont>
    <p:embeddedFont>
      <p:font typeface="Darker Grotesque" panose="02020500000000000000" charset="0"/>
      <p:regular r:id="rId33"/>
      <p:bold r:id="rId34"/>
    </p:embeddedFont>
    <p:embeddedFont>
      <p:font typeface="Darker Grotesque Medium" panose="02020500000000000000" charset="0"/>
      <p:regular r:id="rId35"/>
      <p:bold r:id="rId36"/>
    </p:embeddedFont>
    <p:embeddedFont>
      <p:font typeface="Orbitron" panose="02020500000000000000" charset="0"/>
      <p:regular r:id="rId37"/>
      <p:bold r:id="rId38"/>
    </p:embeddedFont>
    <p:embeddedFont>
      <p:font typeface="Orbitron Black" panose="02020500000000000000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8D6D4B-DB7C-42DB-B80A-B3B7FA9A9740}">
  <a:tblStyle styleId="{8F8D6D4B-DB7C-42DB-B80A-B3B7FA9A97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CF3BB9-356A-4DC6-A1AA-591E68149E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73703" autoAdjust="0"/>
  </p:normalViewPr>
  <p:slideViewPr>
    <p:cSldViewPr snapToGrid="0">
      <p:cViewPr varScale="1">
        <p:scale>
          <a:sx n="94" d="100"/>
          <a:sy n="94" d="100"/>
        </p:scale>
        <p:origin x="7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d527f7846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d527f7846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55b46349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55b46349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55b463498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55b463498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>
          <a:extLst>
            <a:ext uri="{FF2B5EF4-FFF2-40B4-BE49-F238E27FC236}">
              <a16:creationId xmlns:a16="http://schemas.microsoft.com/office/drawing/2014/main" id="{7CEA21EF-CDD7-7806-752D-0DBD5972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e337a1eed6_0_234:notes">
            <a:extLst>
              <a:ext uri="{FF2B5EF4-FFF2-40B4-BE49-F238E27FC236}">
                <a16:creationId xmlns:a16="http://schemas.microsoft.com/office/drawing/2014/main" id="{659567A6-46C0-DDE1-FA58-DF40A378B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e337a1eed6_0_234:notes">
            <a:extLst>
              <a:ext uri="{FF2B5EF4-FFF2-40B4-BE49-F238E27FC236}">
                <a16:creationId xmlns:a16="http://schemas.microsoft.com/office/drawing/2014/main" id="{4DA8EA12-B99F-6D42-735D-AD1CECFE0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933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3427D110-8161-6928-0F3B-427C0AEB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55b463498_0_746:notes">
            <a:extLst>
              <a:ext uri="{FF2B5EF4-FFF2-40B4-BE49-F238E27FC236}">
                <a16:creationId xmlns:a16="http://schemas.microsoft.com/office/drawing/2014/main" id="{6CD96926-8BE1-31B0-1AA0-C2DE19A32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55b463498_0_746:notes">
            <a:extLst>
              <a:ext uri="{FF2B5EF4-FFF2-40B4-BE49-F238E27FC236}">
                <a16:creationId xmlns:a16="http://schemas.microsoft.com/office/drawing/2014/main" id="{C9FC2496-C56D-F429-39DE-E2AFFD7CE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361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31C5FF6B-E78F-3840-8EB1-DC72497C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e337a1eed6_0_501:notes">
            <a:extLst>
              <a:ext uri="{FF2B5EF4-FFF2-40B4-BE49-F238E27FC236}">
                <a16:creationId xmlns:a16="http://schemas.microsoft.com/office/drawing/2014/main" id="{0EEDA6A0-6549-11C0-9BFC-FA81C9912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e337a1eed6_0_501:notes">
            <a:extLst>
              <a:ext uri="{FF2B5EF4-FFF2-40B4-BE49-F238E27FC236}">
                <a16:creationId xmlns:a16="http://schemas.microsoft.com/office/drawing/2014/main" id="{3A6FA9B6-F02B-292A-0462-8F4707699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76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31C5FF6B-E78F-3840-8EB1-DC72497C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e337a1eed6_0_501:notes">
            <a:extLst>
              <a:ext uri="{FF2B5EF4-FFF2-40B4-BE49-F238E27FC236}">
                <a16:creationId xmlns:a16="http://schemas.microsoft.com/office/drawing/2014/main" id="{0EEDA6A0-6549-11C0-9BFC-FA81C9912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e337a1eed6_0_501:notes">
            <a:extLst>
              <a:ext uri="{FF2B5EF4-FFF2-40B4-BE49-F238E27FC236}">
                <a16:creationId xmlns:a16="http://schemas.microsoft.com/office/drawing/2014/main" id="{3A6FA9B6-F02B-292A-0462-8F4707699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356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9045A118-F8CE-D5E3-FAF9-98066DC4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e337a1eed6_0_501:notes">
            <a:extLst>
              <a:ext uri="{FF2B5EF4-FFF2-40B4-BE49-F238E27FC236}">
                <a16:creationId xmlns:a16="http://schemas.microsoft.com/office/drawing/2014/main" id="{5F6CA93E-BB42-78F8-BE6F-5C86ABD41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e337a1eed6_0_501:notes">
            <a:extLst>
              <a:ext uri="{FF2B5EF4-FFF2-40B4-BE49-F238E27FC236}">
                <a16:creationId xmlns:a16="http://schemas.microsoft.com/office/drawing/2014/main" id="{E752F07F-CDAA-7AB9-46FC-09999740A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995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31C5FF6B-E78F-3840-8EB1-DC72497C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e337a1eed6_0_501:notes">
            <a:extLst>
              <a:ext uri="{FF2B5EF4-FFF2-40B4-BE49-F238E27FC236}">
                <a16:creationId xmlns:a16="http://schemas.microsoft.com/office/drawing/2014/main" id="{0EEDA6A0-6549-11C0-9BFC-FA81C9912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e337a1eed6_0_501:notes">
            <a:extLst>
              <a:ext uri="{FF2B5EF4-FFF2-40B4-BE49-F238E27FC236}">
                <a16:creationId xmlns:a16="http://schemas.microsoft.com/office/drawing/2014/main" id="{3A6FA9B6-F02B-292A-0462-8F4707699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dirty="0"/>
              <a:t>你看到的介面（類似 </a:t>
            </a:r>
            <a:r>
              <a:rPr lang="en-US" altLang="zh-TW" i="1" dirty="0" err="1"/>
              <a:t>Nitter</a:t>
            </a:r>
            <a:r>
              <a:rPr lang="zh-TW" altLang="en-US" dirty="0"/>
              <a:t>）通常會：</a:t>
            </a:r>
          </a:p>
          <a:p>
            <a:r>
              <a:rPr lang="zh-TW" altLang="en-US" dirty="0"/>
              <a:t>在內網跑多個 </a:t>
            </a:r>
            <a:r>
              <a:rPr lang="en-US" altLang="zh-TW" dirty="0" err="1"/>
              <a:t>Nitter</a:t>
            </a:r>
            <a:r>
              <a:rPr lang="en-US" altLang="zh-TW" dirty="0"/>
              <a:t> </a:t>
            </a:r>
            <a:r>
              <a:rPr lang="zh-TW" altLang="en-US" dirty="0"/>
              <a:t>執行緒（</a:t>
            </a:r>
            <a:r>
              <a:rPr lang="en-US" altLang="zh-TW" dirty="0" err="1"/>
              <a:t>Golang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/>
              <a:t>Rust </a:t>
            </a:r>
            <a:r>
              <a:rPr lang="zh-TW" altLang="en-US" dirty="0"/>
              <a:t>服務）</a:t>
            </a:r>
          </a:p>
          <a:p>
            <a:r>
              <a:rPr lang="zh-TW" altLang="en-US" dirty="0"/>
              <a:t>前方放一層 </a:t>
            </a:r>
            <a:r>
              <a:rPr lang="en-US" altLang="zh-TW" dirty="0"/>
              <a:t>Nginx</a:t>
            </a:r>
          </a:p>
          <a:p>
            <a:pPr lvl="1"/>
            <a:r>
              <a:rPr lang="zh-TW" altLang="en-US" dirty="0"/>
              <a:t>反向代理 </a:t>
            </a:r>
            <a:r>
              <a:rPr lang="en-US" altLang="zh-TW" dirty="0"/>
              <a:t>+ </a:t>
            </a:r>
            <a:r>
              <a:rPr lang="zh-TW" altLang="en-US" dirty="0"/>
              <a:t>負載平衡 </a:t>
            </a:r>
            <a:r>
              <a:rPr lang="en-US" altLang="zh-TW" dirty="0"/>
              <a:t>+ TLS</a:t>
            </a:r>
          </a:p>
          <a:p>
            <a:pPr lvl="1"/>
            <a:r>
              <a:rPr lang="zh-TW" altLang="en-US" dirty="0"/>
              <a:t>針對 </a:t>
            </a:r>
            <a:r>
              <a:rPr lang="en-US" altLang="zh-TW" dirty="0"/>
              <a:t>Twitter </a:t>
            </a:r>
            <a:r>
              <a:rPr lang="zh-TW" altLang="en-US" dirty="0"/>
              <a:t>流量做快取，減少 </a:t>
            </a:r>
            <a:r>
              <a:rPr lang="en-US" altLang="zh-TW" dirty="0"/>
              <a:t>API </a:t>
            </a:r>
            <a:r>
              <a:rPr lang="zh-TW" altLang="en-US" dirty="0"/>
              <a:t>壓力</a:t>
            </a:r>
          </a:p>
          <a:p>
            <a:pPr lvl="1"/>
            <a:r>
              <a:rPr lang="zh-TW" altLang="en-US" dirty="0"/>
              <a:t>對外只暴露 </a:t>
            </a:r>
            <a:r>
              <a:rPr lang="en-US" altLang="zh-TW" dirty="0"/>
              <a:t>80/443</a:t>
            </a:r>
            <a:r>
              <a:rPr lang="zh-TW" altLang="en-US" dirty="0"/>
              <a:t>，其他埠完全內部化</a:t>
            </a:r>
          </a:p>
          <a:p>
            <a:r>
              <a:rPr lang="zh-TW" altLang="en-US" dirty="0"/>
              <a:t>這樣既能穩定服務，又能避免直接暴露後端程式或真實 </a:t>
            </a:r>
            <a:r>
              <a:rPr lang="en-US" altLang="zh-TW" dirty="0"/>
              <a:t>IP</a:t>
            </a:r>
            <a:r>
              <a:rPr lang="zh-TW" alt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1762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e337a1eed6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e337a1eed6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420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d55b463498_0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d55b463498_0_9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213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>
          <a:extLst>
            <a:ext uri="{FF2B5EF4-FFF2-40B4-BE49-F238E27FC236}">
              <a16:creationId xmlns:a16="http://schemas.microsoft.com/office/drawing/2014/main" id="{3BD1F706-839C-CC39-2F5D-E3138D92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e337a1eed6_0_1334:notes">
            <a:extLst>
              <a:ext uri="{FF2B5EF4-FFF2-40B4-BE49-F238E27FC236}">
                <a16:creationId xmlns:a16="http://schemas.microsoft.com/office/drawing/2014/main" id="{250719F2-4755-F406-71D6-8FA5FF6F0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e337a1eed6_0_1334:notes">
            <a:extLst>
              <a:ext uri="{FF2B5EF4-FFF2-40B4-BE49-F238E27FC236}">
                <a16:creationId xmlns:a16="http://schemas.microsoft.com/office/drawing/2014/main" id="{8777DA21-BED6-5FF2-16A4-A531AEBF4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337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>
          <a:extLst>
            <a:ext uri="{FF2B5EF4-FFF2-40B4-BE49-F238E27FC236}">
              <a16:creationId xmlns:a16="http://schemas.microsoft.com/office/drawing/2014/main" id="{61BDD565-932D-A914-9EB1-0AD5DC05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d55b463498_0_593:notes">
            <a:extLst>
              <a:ext uri="{FF2B5EF4-FFF2-40B4-BE49-F238E27FC236}">
                <a16:creationId xmlns:a16="http://schemas.microsoft.com/office/drawing/2014/main" id="{647FF164-512D-1BF5-D2F5-5714FDDE7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d55b463498_0_593:notes">
            <a:extLst>
              <a:ext uri="{FF2B5EF4-FFF2-40B4-BE49-F238E27FC236}">
                <a16:creationId xmlns:a16="http://schemas.microsoft.com/office/drawing/2014/main" id="{FFD89304-8874-F0F6-00F4-DAFF3B037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787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A0B38014-B81B-0C39-E158-A25D0B0B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55b463498_0_746:notes">
            <a:extLst>
              <a:ext uri="{FF2B5EF4-FFF2-40B4-BE49-F238E27FC236}">
                <a16:creationId xmlns:a16="http://schemas.microsoft.com/office/drawing/2014/main" id="{48C2413E-F57A-A3B5-DCCF-E750B7AA4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55b463498_0_746:notes">
            <a:extLst>
              <a:ext uri="{FF2B5EF4-FFF2-40B4-BE49-F238E27FC236}">
                <a16:creationId xmlns:a16="http://schemas.microsoft.com/office/drawing/2014/main" id="{C2218C80-2E39-9323-F4D9-FEDE229BC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257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>
          <a:extLst>
            <a:ext uri="{FF2B5EF4-FFF2-40B4-BE49-F238E27FC236}">
              <a16:creationId xmlns:a16="http://schemas.microsoft.com/office/drawing/2014/main" id="{44C82402-34C8-1870-A580-A0599D68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e337a1eed6_0_560:notes">
            <a:extLst>
              <a:ext uri="{FF2B5EF4-FFF2-40B4-BE49-F238E27FC236}">
                <a16:creationId xmlns:a16="http://schemas.microsoft.com/office/drawing/2014/main" id="{7C525BE8-B459-4520-8673-8E8D62B64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e337a1eed6_0_560:notes">
            <a:extLst>
              <a:ext uri="{FF2B5EF4-FFF2-40B4-BE49-F238E27FC236}">
                <a16:creationId xmlns:a16="http://schemas.microsoft.com/office/drawing/2014/main" id="{9E34B397-2A70-8BEC-032B-37709392C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392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>
          <a:extLst>
            <a:ext uri="{FF2B5EF4-FFF2-40B4-BE49-F238E27FC236}">
              <a16:creationId xmlns:a16="http://schemas.microsoft.com/office/drawing/2014/main" id="{44C82402-34C8-1870-A580-A0599D68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e337a1eed6_0_560:notes">
            <a:extLst>
              <a:ext uri="{FF2B5EF4-FFF2-40B4-BE49-F238E27FC236}">
                <a16:creationId xmlns:a16="http://schemas.microsoft.com/office/drawing/2014/main" id="{7C525BE8-B459-4520-8673-8E8D62B64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e337a1eed6_0_560:notes">
            <a:extLst>
              <a:ext uri="{FF2B5EF4-FFF2-40B4-BE49-F238E27FC236}">
                <a16:creationId xmlns:a16="http://schemas.microsoft.com/office/drawing/2014/main" id="{9E34B397-2A70-8BEC-032B-37709392C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b="1" dirty="0" err="1"/>
              <a:t>WebSocket</a:t>
            </a:r>
            <a:r>
              <a:rPr lang="en-US" altLang="zh-TW" b="1" dirty="0"/>
              <a:t> Channel</a:t>
            </a:r>
            <a:r>
              <a:rPr lang="zh-TW" altLang="en-US" dirty="0"/>
              <a:t>：即時將情緒 </a:t>
            </a:r>
            <a:r>
              <a:rPr lang="en-US" altLang="zh-TW" dirty="0"/>
              <a:t>&amp; </a:t>
            </a:r>
            <a:r>
              <a:rPr lang="zh-TW" altLang="en-US" dirty="0"/>
              <a:t>價格指標推送至 </a:t>
            </a:r>
            <a:r>
              <a:rPr lang="en-US" altLang="zh-TW" dirty="0"/>
              <a:t>React</a:t>
            </a:r>
            <a:r>
              <a:rPr lang="zh-TW" altLang="en-US" dirty="0"/>
              <a:t>。</a:t>
            </a:r>
          </a:p>
          <a:p>
            <a:r>
              <a:rPr lang="en-US" altLang="zh-TW" b="1" dirty="0" err="1"/>
              <a:t>TimescaleDB</a:t>
            </a:r>
            <a:r>
              <a:rPr lang="zh-TW" altLang="en-US" dirty="0"/>
              <a:t>：優化時序查詢、</a:t>
            </a:r>
            <a:r>
              <a:rPr lang="en-US" altLang="zh-TW" dirty="0"/>
              <a:t>Down-sampling</a:t>
            </a:r>
            <a:r>
              <a:rPr lang="zh-TW" altLang="en-US" dirty="0"/>
              <a:t>。</a:t>
            </a:r>
          </a:p>
          <a:p>
            <a:r>
              <a:rPr lang="en-US" altLang="zh-TW" b="1" dirty="0"/>
              <a:t>Python ML Worker</a:t>
            </a:r>
            <a:r>
              <a:rPr lang="zh-TW" altLang="en-US" dirty="0"/>
              <a:t>：</a:t>
            </a:r>
            <a:r>
              <a:rPr lang="en-US" altLang="zh-TW" dirty="0"/>
              <a:t>BERT / UASTL </a:t>
            </a:r>
            <a:r>
              <a:rPr lang="zh-TW" altLang="en-US" dirty="0"/>
              <a:t>批次 </a:t>
            </a:r>
            <a:r>
              <a:rPr lang="en-US" altLang="zh-TW" dirty="0"/>
              <a:t>&amp; </a:t>
            </a:r>
            <a:r>
              <a:rPr lang="zh-TW" altLang="en-US" dirty="0"/>
              <a:t>線上推論；</a:t>
            </a:r>
            <a:r>
              <a:rPr lang="en-US" altLang="zh-TW" dirty="0"/>
              <a:t>Kafka Bus </a:t>
            </a:r>
            <a:r>
              <a:rPr lang="zh-TW" altLang="en-US" dirty="0"/>
              <a:t>解耦寫入流程。</a:t>
            </a:r>
          </a:p>
          <a:p>
            <a:r>
              <a:rPr lang="en-US" altLang="zh-TW" b="1" dirty="0"/>
              <a:t>Service Worker + HTTP Cache</a:t>
            </a:r>
            <a:r>
              <a:rPr lang="zh-TW" altLang="en-US" dirty="0"/>
              <a:t>：前端離線瀏覽、漸進式 </a:t>
            </a:r>
            <a:r>
              <a:rPr lang="en-US" altLang="zh-TW" dirty="0"/>
              <a:t>Web App</a:t>
            </a:r>
            <a:r>
              <a:rPr lang="zh-TW" alt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User Browser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React SPA (frontend)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├─→  Express.js API (backend)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│       ├─→ Security Middleware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│       ├─→ SQLite Database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│       └─→ Index Optimizer Script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└─→  Service Worker ─→ HTTP Cache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zh-TW" altLang="en-US" b="1" dirty="0"/>
              <a:t>雙支線</a:t>
            </a:r>
            <a:r>
              <a:rPr lang="zh-TW" altLang="en-US" dirty="0"/>
              <a:t>：</a:t>
            </a:r>
          </a:p>
          <a:p>
            <a:r>
              <a:rPr lang="zh-TW" altLang="en-US" dirty="0"/>
              <a:t>主線：</a:t>
            </a:r>
            <a:r>
              <a:rPr lang="en-US" altLang="zh-TW" dirty="0"/>
              <a:t>Browser → SPA → API → DB / Middleware / Index Job</a:t>
            </a:r>
          </a:p>
          <a:p>
            <a:r>
              <a:rPr lang="zh-TW" altLang="en-US" dirty="0"/>
              <a:t>快取線：</a:t>
            </a:r>
            <a:r>
              <a:rPr lang="en-US" altLang="zh-TW" dirty="0"/>
              <a:t>SPA ↔ Service Worker ↔ HTTP Cache</a:t>
            </a:r>
            <a:r>
              <a:rPr lang="zh-TW" altLang="en-US" dirty="0"/>
              <a:t>（離線與資源加速）</a:t>
            </a:r>
          </a:p>
          <a:p>
            <a:r>
              <a:rPr lang="zh-TW" altLang="en-US" b="1" dirty="0"/>
              <a:t>資料庫</a:t>
            </a:r>
            <a:r>
              <a:rPr lang="zh-TW" altLang="en-US" dirty="0"/>
              <a:t>：選擇 </a:t>
            </a:r>
            <a:r>
              <a:rPr lang="en-US" altLang="zh-TW" b="1" dirty="0"/>
              <a:t>SQLite</a:t>
            </a:r>
            <a:r>
              <a:rPr lang="zh-TW" altLang="en-US" dirty="0"/>
              <a:t>（輕量、易部署）。</a:t>
            </a:r>
          </a:p>
          <a:p>
            <a:r>
              <a:rPr lang="zh-TW" altLang="en-US" b="1" dirty="0"/>
              <a:t>批次腳本</a:t>
            </a:r>
            <a:r>
              <a:rPr lang="zh-TW" altLang="en-US" dirty="0"/>
              <a:t>：</a:t>
            </a:r>
            <a:r>
              <a:rPr lang="en-US" altLang="zh-TW" dirty="0"/>
              <a:t>Index Optimizer Script </a:t>
            </a:r>
            <a:r>
              <a:rPr lang="zh-TW" altLang="en-US" dirty="0"/>
              <a:t>代表離線維護工作（重建索引或匯入資料）。</a:t>
            </a:r>
          </a:p>
          <a:p>
            <a:r>
              <a:rPr lang="zh-TW" altLang="en-US" b="1" dirty="0"/>
              <a:t>安全</a:t>
            </a:r>
            <a:r>
              <a:rPr lang="zh-TW" altLang="en-US" dirty="0"/>
              <a:t>：</a:t>
            </a:r>
            <a:r>
              <a:rPr lang="en-US" altLang="zh-TW" dirty="0"/>
              <a:t>Security Middleware </a:t>
            </a:r>
            <a:r>
              <a:rPr lang="zh-TW" altLang="en-US" dirty="0"/>
              <a:t>置於 </a:t>
            </a:r>
            <a:r>
              <a:rPr lang="en-US" altLang="zh-TW" dirty="0"/>
              <a:t>API </a:t>
            </a:r>
            <a:r>
              <a:rPr lang="zh-TW" altLang="en-US" dirty="0"/>
              <a:t>之上，防範 </a:t>
            </a:r>
            <a:r>
              <a:rPr lang="en-US" altLang="zh-TW" dirty="0"/>
              <a:t>XSS/CORS/Rate-Limit</a:t>
            </a:r>
            <a:r>
              <a:rPr lang="zh-TW" alt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7674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8FE96831-3DFE-F2F9-B39A-BD87B190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e337a1eed6_0_501:notes">
            <a:extLst>
              <a:ext uri="{FF2B5EF4-FFF2-40B4-BE49-F238E27FC236}">
                <a16:creationId xmlns:a16="http://schemas.microsoft.com/office/drawing/2014/main" id="{9068B8C2-25F4-6538-3BAB-FCD14D694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e337a1eed6_0_501:notes">
            <a:extLst>
              <a:ext uri="{FF2B5EF4-FFF2-40B4-BE49-F238E27FC236}">
                <a16:creationId xmlns:a16="http://schemas.microsoft.com/office/drawing/2014/main" id="{5732389A-8799-861A-05D1-489DAB122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804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E566EB09-2DC2-4671-7637-7E0AC86AC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d55b463498_4_293:notes">
            <a:extLst>
              <a:ext uri="{FF2B5EF4-FFF2-40B4-BE49-F238E27FC236}">
                <a16:creationId xmlns:a16="http://schemas.microsoft.com/office/drawing/2014/main" id="{CBB29C12-0E43-7C0E-F473-9011FEF6A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d55b463498_4_293:notes">
            <a:extLst>
              <a:ext uri="{FF2B5EF4-FFF2-40B4-BE49-F238E27FC236}">
                <a16:creationId xmlns:a16="http://schemas.microsoft.com/office/drawing/2014/main" id="{2FBCEF2B-91D4-6319-02EF-F207EC58F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388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FC90F3B3-C633-BCC6-3EBD-4FB61E918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d55b463498_4_293:notes">
            <a:extLst>
              <a:ext uri="{FF2B5EF4-FFF2-40B4-BE49-F238E27FC236}">
                <a16:creationId xmlns:a16="http://schemas.microsoft.com/office/drawing/2014/main" id="{E559D1C6-C0A5-A7A2-1D5A-E74D8A050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d55b463498_4_293:notes">
            <a:extLst>
              <a:ext uri="{FF2B5EF4-FFF2-40B4-BE49-F238E27FC236}">
                <a16:creationId xmlns:a16="http://schemas.microsoft.com/office/drawing/2014/main" id="{D44E37D9-9FE5-41DC-0056-15A7DA345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3336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3B329083-AF31-864F-E2F4-F2AC4404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55b463498_0_746:notes">
            <a:extLst>
              <a:ext uri="{FF2B5EF4-FFF2-40B4-BE49-F238E27FC236}">
                <a16:creationId xmlns:a16="http://schemas.microsoft.com/office/drawing/2014/main" id="{5EB4B593-90D3-8519-2FB5-8FF22E69C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55b463498_0_746:notes">
            <a:extLst>
              <a:ext uri="{FF2B5EF4-FFF2-40B4-BE49-F238E27FC236}">
                <a16:creationId xmlns:a16="http://schemas.microsoft.com/office/drawing/2014/main" id="{E9A07DC3-A533-2AC8-E7CD-0C3667C28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2617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7a3de6cf2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7a3de6cf2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961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C4D14693-40C5-8F15-EF37-1A28A1CD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55b463498_0_746:notes">
            <a:extLst>
              <a:ext uri="{FF2B5EF4-FFF2-40B4-BE49-F238E27FC236}">
                <a16:creationId xmlns:a16="http://schemas.microsoft.com/office/drawing/2014/main" id="{99F4B073-64A1-BA47-A829-3659767E3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55b463498_0_746:notes">
            <a:extLst>
              <a:ext uri="{FF2B5EF4-FFF2-40B4-BE49-F238E27FC236}">
                <a16:creationId xmlns:a16="http://schemas.microsoft.com/office/drawing/2014/main" id="{ECDAE96F-2627-0386-25FC-899EBBAFA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54676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>
          <a:extLst>
            <a:ext uri="{FF2B5EF4-FFF2-40B4-BE49-F238E27FC236}">
              <a16:creationId xmlns:a16="http://schemas.microsoft.com/office/drawing/2014/main" id="{183D8772-DBF0-509B-A100-8815909D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e337a1eed6_0_560:notes">
            <a:extLst>
              <a:ext uri="{FF2B5EF4-FFF2-40B4-BE49-F238E27FC236}">
                <a16:creationId xmlns:a16="http://schemas.microsoft.com/office/drawing/2014/main" id="{137E4C22-D26E-CF66-91DF-7F5B6EFD8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e337a1eed6_0_560:notes">
            <a:extLst>
              <a:ext uri="{FF2B5EF4-FFF2-40B4-BE49-F238E27FC236}">
                <a16:creationId xmlns:a16="http://schemas.microsoft.com/office/drawing/2014/main" id="{C04B1649-1653-9EDB-1E42-36D0BFA57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3608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5E14E129-615C-50FC-0B0F-98F65874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55b463498_0_746:notes">
            <a:extLst>
              <a:ext uri="{FF2B5EF4-FFF2-40B4-BE49-F238E27FC236}">
                <a16:creationId xmlns:a16="http://schemas.microsoft.com/office/drawing/2014/main" id="{6C4EA83E-94EF-D291-B5AC-CF7E861C3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55b463498_0_746:notes">
            <a:extLst>
              <a:ext uri="{FF2B5EF4-FFF2-40B4-BE49-F238E27FC236}">
                <a16:creationId xmlns:a16="http://schemas.microsoft.com/office/drawing/2014/main" id="{9056642E-9331-E9A4-44FB-5C27A50FE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930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>
          <a:extLst>
            <a:ext uri="{FF2B5EF4-FFF2-40B4-BE49-F238E27FC236}">
              <a16:creationId xmlns:a16="http://schemas.microsoft.com/office/drawing/2014/main" id="{423AF1CF-0314-6B3E-0909-8397BE45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e337a1eed6_0_1334:notes">
            <a:extLst>
              <a:ext uri="{FF2B5EF4-FFF2-40B4-BE49-F238E27FC236}">
                <a16:creationId xmlns:a16="http://schemas.microsoft.com/office/drawing/2014/main" id="{9B58212F-AFD2-8E75-42FF-EE68E70ED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e337a1eed6_0_1334:notes">
            <a:extLst>
              <a:ext uri="{FF2B5EF4-FFF2-40B4-BE49-F238E27FC236}">
                <a16:creationId xmlns:a16="http://schemas.microsoft.com/office/drawing/2014/main" id="{A88594C8-FD2C-FD05-9276-8F0BDCFDF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886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3">
          <a:extLst>
            <a:ext uri="{FF2B5EF4-FFF2-40B4-BE49-F238E27FC236}">
              <a16:creationId xmlns:a16="http://schemas.microsoft.com/office/drawing/2014/main" id="{43C3E7E0-F2E0-C8B4-8704-736F4670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e337a1eed6_0_155:notes">
            <a:extLst>
              <a:ext uri="{FF2B5EF4-FFF2-40B4-BE49-F238E27FC236}">
                <a16:creationId xmlns:a16="http://schemas.microsoft.com/office/drawing/2014/main" id="{DF7764EF-8F3A-28D0-ED50-64413A92DD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e337a1eed6_0_155:notes">
            <a:extLst>
              <a:ext uri="{FF2B5EF4-FFF2-40B4-BE49-F238E27FC236}">
                <a16:creationId xmlns:a16="http://schemas.microsoft.com/office/drawing/2014/main" id="{529055F8-CE55-3C14-F42D-5ACEC2342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35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2250" y="1870875"/>
            <a:ext cx="5804400" cy="12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500" y="32380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1320850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2724500"/>
            <a:ext cx="297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"/>
          <p:cNvGrpSpPr/>
          <p:nvPr/>
        </p:nvGrpSpPr>
        <p:grpSpPr>
          <a:xfrm>
            <a:off x="-1150210" y="-986414"/>
            <a:ext cx="12304614" cy="7932672"/>
            <a:chOff x="-1150210" y="-986414"/>
            <a:chExt cx="12304614" cy="7932672"/>
          </a:xfrm>
        </p:grpSpPr>
        <p:pic>
          <p:nvPicPr>
            <p:cNvPr id="24" name="Google Shape;24;p5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-5155791">
              <a:off x="-1461292" y="1368095"/>
              <a:ext cx="2583232" cy="1782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5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-5155791">
              <a:off x="7977458" y="-525905"/>
              <a:ext cx="2583232" cy="1782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5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7762612">
              <a:off x="6899762" y="3215881"/>
              <a:ext cx="3925475" cy="2708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00">
              <a:off x="305786" y="1972849"/>
              <a:ext cx="755727" cy="572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717500" y="3032145"/>
            <a:ext cx="29076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4625100" y="3032145"/>
            <a:ext cx="29076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992450" y="3500525"/>
            <a:ext cx="235770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900050" y="3500525"/>
            <a:ext cx="235770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9134663">
            <a:off x="5216409" y="2807138"/>
            <a:ext cx="5981304" cy="41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9134665">
            <a:off x="640936" y="-587160"/>
            <a:ext cx="7862096" cy="542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-2359540">
            <a:off x="-1115599" y="-633789"/>
            <a:ext cx="3498423" cy="241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7857552">
            <a:off x="5346224" y="-2011764"/>
            <a:ext cx="3498427" cy="24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8099952">
            <a:off x="400134" y="3004414"/>
            <a:ext cx="1541807" cy="10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-3600043">
            <a:off x="7336108" y="2039888"/>
            <a:ext cx="1541809" cy="10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337" y="-1269810"/>
            <a:ext cx="3185085" cy="24136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8107075" y="-377987"/>
            <a:ext cx="1902000" cy="1902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9525" dir="1032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-284900" y="4457475"/>
            <a:ext cx="1250700" cy="12507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9525" dir="1032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"/>
          <p:cNvGrpSpPr/>
          <p:nvPr/>
        </p:nvGrpSpPr>
        <p:grpSpPr>
          <a:xfrm>
            <a:off x="-2519465" y="-1064375"/>
            <a:ext cx="13382030" cy="8111790"/>
            <a:chOff x="-2519465" y="-1064375"/>
            <a:chExt cx="13382030" cy="8111790"/>
          </a:xfrm>
        </p:grpSpPr>
        <p:sp>
          <p:nvSpPr>
            <p:cNvPr id="84" name="Google Shape;84;p13"/>
            <p:cNvSpPr/>
            <p:nvPr/>
          </p:nvSpPr>
          <p:spPr>
            <a:xfrm>
              <a:off x="-2305525" y="1750825"/>
              <a:ext cx="2815200" cy="2815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4877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7362900" y="-1064375"/>
              <a:ext cx="2815200" cy="2815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4877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6" name="Google Shape;86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051225">
              <a:off x="8058638" y="215269"/>
              <a:ext cx="1005627" cy="762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3"/>
            <p:cNvPicPr preferRelativeResize="0"/>
            <p:nvPr/>
          </p:nvPicPr>
          <p:blipFill rotWithShape="1">
            <a:blip r:embed="rId3">
              <a:alphaModFix/>
            </a:blip>
            <a:srcRect l="7340" r="4538" b="19768"/>
            <a:stretch/>
          </p:blipFill>
          <p:spPr>
            <a:xfrm rot="10666232">
              <a:off x="-1063726" y="-337746"/>
              <a:ext cx="2544482" cy="17554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3"/>
            <p:cNvPicPr preferRelativeResize="0"/>
            <p:nvPr/>
          </p:nvPicPr>
          <p:blipFill rotWithShape="1">
            <a:blip r:embed="rId3">
              <a:alphaModFix/>
            </a:blip>
            <a:srcRect l="7340" r="4538" b="19768"/>
            <a:stretch/>
          </p:blipFill>
          <p:spPr>
            <a:xfrm rot="8474785">
              <a:off x="7529762" y="3538855"/>
              <a:ext cx="3013777" cy="2079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3"/>
            <p:cNvPicPr preferRelativeResize="0"/>
            <p:nvPr/>
          </p:nvPicPr>
          <p:blipFill rotWithShape="1">
            <a:blip r:embed="rId3">
              <a:alphaModFix/>
            </a:blip>
            <a:srcRect l="7340" r="4538" b="19768"/>
            <a:stretch/>
          </p:blipFill>
          <p:spPr>
            <a:xfrm rot="8474785">
              <a:off x="-2200438" y="4253780"/>
              <a:ext cx="3013777" cy="2079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720000" y="194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052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720000" y="23801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/>
          </p:nvPr>
        </p:nvSpPr>
        <p:spPr>
          <a:xfrm>
            <a:off x="3403800" y="194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5052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5"/>
          </p:nvPr>
        </p:nvSpPr>
        <p:spPr>
          <a:xfrm>
            <a:off x="3403800" y="23801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/>
          </p:nvPr>
        </p:nvSpPr>
        <p:spPr>
          <a:xfrm>
            <a:off x="6087600" y="194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5052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8"/>
          </p:nvPr>
        </p:nvSpPr>
        <p:spPr>
          <a:xfrm>
            <a:off x="6087600" y="23801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9"/>
          </p:nvPr>
        </p:nvSpPr>
        <p:spPr>
          <a:xfrm>
            <a:off x="720000" y="36591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218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4"/>
          </p:nvPr>
        </p:nvSpPr>
        <p:spPr>
          <a:xfrm>
            <a:off x="720000" y="40933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15"/>
          </p:nvPr>
        </p:nvSpPr>
        <p:spPr>
          <a:xfrm>
            <a:off x="3403800" y="36591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6" hasCustomPrompt="1"/>
          </p:nvPr>
        </p:nvSpPr>
        <p:spPr>
          <a:xfrm>
            <a:off x="3403800" y="3218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7"/>
          </p:nvPr>
        </p:nvSpPr>
        <p:spPr>
          <a:xfrm>
            <a:off x="3403800" y="40933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8"/>
          </p:nvPr>
        </p:nvSpPr>
        <p:spPr>
          <a:xfrm>
            <a:off x="6087600" y="36591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9" hasCustomPrompt="1"/>
          </p:nvPr>
        </p:nvSpPr>
        <p:spPr>
          <a:xfrm>
            <a:off x="6087600" y="3218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20"/>
          </p:nvPr>
        </p:nvSpPr>
        <p:spPr>
          <a:xfrm>
            <a:off x="6087600" y="40933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4"/>
          <p:cNvGrpSpPr/>
          <p:nvPr/>
        </p:nvGrpSpPr>
        <p:grpSpPr>
          <a:xfrm>
            <a:off x="-2287613" y="-2849757"/>
            <a:ext cx="13137064" cy="11818857"/>
            <a:chOff x="-2287613" y="-2849757"/>
            <a:chExt cx="13137064" cy="11818857"/>
          </a:xfrm>
        </p:grpSpPr>
        <p:sp>
          <p:nvSpPr>
            <p:cNvPr id="111" name="Google Shape;111;p14"/>
            <p:cNvSpPr/>
            <p:nvPr/>
          </p:nvSpPr>
          <p:spPr>
            <a:xfrm>
              <a:off x="2730925" y="4136100"/>
              <a:ext cx="4833000" cy="48330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13560000" algn="bl" rotWithShape="0">
                <a:srgbClr val="4877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2" name="Google Shape;112;p14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-1024815">
              <a:off x="-1813499" y="-2062374"/>
              <a:ext cx="5981303" cy="4126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4"/>
            <p:cNvSpPr/>
            <p:nvPr/>
          </p:nvSpPr>
          <p:spPr>
            <a:xfrm>
              <a:off x="6320525" y="-2551325"/>
              <a:ext cx="3524100" cy="35241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dist="19050" dir="5400000" algn="bl" rotWithShape="0">
                <a:srgbClr val="4877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-753300" y="4387750"/>
              <a:ext cx="4510200" cy="4510200"/>
            </a:xfrm>
            <a:prstGeom prst="ellipse">
              <a:avLst/>
            </a:pr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100019" scaled="0"/>
            </a:gradFill>
            <a:ln>
              <a:noFill/>
            </a:ln>
            <a:effectLst>
              <a:outerShdw blurRad="57150" dist="19050" dir="5400000" algn="bl" rotWithShape="0">
                <a:srgbClr val="4877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5" name="Google Shape;115;p14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8440460">
              <a:off x="6573591" y="3723802"/>
              <a:ext cx="3498423" cy="24136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4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2700007">
              <a:off x="-1549410" y="3811827"/>
              <a:ext cx="3498423" cy="2413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4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-2700067">
              <a:off x="8196332" y="-663976"/>
              <a:ext cx="2417488" cy="1667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2290025" y="33927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subTitle" idx="1"/>
          </p:nvPr>
        </p:nvSpPr>
        <p:spPr>
          <a:xfrm>
            <a:off x="1458125" y="1440900"/>
            <a:ext cx="62277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7"/>
          <p:cNvGrpSpPr/>
          <p:nvPr/>
        </p:nvGrpSpPr>
        <p:grpSpPr>
          <a:xfrm>
            <a:off x="-626179" y="-1185730"/>
            <a:ext cx="10883154" cy="7341565"/>
            <a:chOff x="-626179" y="-1185730"/>
            <a:chExt cx="10883154" cy="7341565"/>
          </a:xfrm>
        </p:grpSpPr>
        <p:pic>
          <p:nvPicPr>
            <p:cNvPr id="141" name="Google Shape;141;p17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5399979">
              <a:off x="8130378" y="118434"/>
              <a:ext cx="2516797" cy="17363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7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431542">
              <a:off x="7475217" y="4351057"/>
              <a:ext cx="2406995" cy="1660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 rotWithShape="1">
            <a:blip r:embed="rId2">
              <a:alphaModFix/>
            </a:blip>
            <a:srcRect l="7340" r="4538" b="19768"/>
            <a:stretch/>
          </p:blipFill>
          <p:spPr>
            <a:xfrm rot="-697866">
              <a:off x="-483495" y="-960143"/>
              <a:ext cx="2406996" cy="16606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-1358125" y="4329300"/>
            <a:ext cx="4833000" cy="4833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1356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TITLE_AND_DESCRIPTION_1_1_1_1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2541750" y="1168450"/>
            <a:ext cx="40605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4" name="Google Shape;304;p37"/>
          <p:cNvSpPr txBox="1">
            <a:spLocks noGrp="1"/>
          </p:cNvSpPr>
          <p:nvPr>
            <p:ph type="title" idx="2" hasCustomPrompt="1"/>
          </p:nvPr>
        </p:nvSpPr>
        <p:spPr>
          <a:xfrm>
            <a:off x="3772050" y="35321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5" name="Google Shape;305;p37"/>
          <p:cNvSpPr txBox="1">
            <a:spLocks noGrp="1"/>
          </p:cNvSpPr>
          <p:nvPr>
            <p:ph type="subTitle" idx="1"/>
          </p:nvPr>
        </p:nvSpPr>
        <p:spPr>
          <a:xfrm>
            <a:off x="3086700" y="2572100"/>
            <a:ext cx="297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>
            <a:spLocks noGrp="1"/>
          </p:cNvSpPr>
          <p:nvPr>
            <p:ph type="subTitle" idx="1"/>
          </p:nvPr>
        </p:nvSpPr>
        <p:spPr>
          <a:xfrm>
            <a:off x="2516193" y="2266784"/>
            <a:ext cx="18459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7" name="Google Shape;317;p39"/>
          <p:cNvSpPr txBox="1">
            <a:spLocks noGrp="1"/>
          </p:cNvSpPr>
          <p:nvPr>
            <p:ph type="subTitle" idx="2"/>
          </p:nvPr>
        </p:nvSpPr>
        <p:spPr>
          <a:xfrm>
            <a:off x="6384038" y="2266784"/>
            <a:ext cx="18459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8" name="Google Shape;318;p39"/>
          <p:cNvSpPr txBox="1">
            <a:spLocks noGrp="1"/>
          </p:cNvSpPr>
          <p:nvPr>
            <p:ph type="subTitle" idx="3"/>
          </p:nvPr>
        </p:nvSpPr>
        <p:spPr>
          <a:xfrm>
            <a:off x="2516200" y="2690362"/>
            <a:ext cx="184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9"/>
          <p:cNvSpPr txBox="1">
            <a:spLocks noGrp="1"/>
          </p:cNvSpPr>
          <p:nvPr>
            <p:ph type="subTitle" idx="4"/>
          </p:nvPr>
        </p:nvSpPr>
        <p:spPr>
          <a:xfrm>
            <a:off x="6384049" y="2690362"/>
            <a:ext cx="184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>
            <a:spLocks noGrp="1"/>
          </p:cNvSpPr>
          <p:nvPr>
            <p:ph type="subTitle" idx="1"/>
          </p:nvPr>
        </p:nvSpPr>
        <p:spPr>
          <a:xfrm>
            <a:off x="719950" y="2270575"/>
            <a:ext cx="2042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subTitle" idx="2"/>
          </p:nvPr>
        </p:nvSpPr>
        <p:spPr>
          <a:xfrm>
            <a:off x="6381300" y="2270575"/>
            <a:ext cx="2042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1800">
                <a:solidFill>
                  <a:srgbClr val="000000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ubTitle" idx="3"/>
          </p:nvPr>
        </p:nvSpPr>
        <p:spPr>
          <a:xfrm>
            <a:off x="816847" y="2692569"/>
            <a:ext cx="194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subTitle" idx="4"/>
          </p:nvPr>
        </p:nvSpPr>
        <p:spPr>
          <a:xfrm>
            <a:off x="6381298" y="2692569"/>
            <a:ext cx="194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BLANK_1_1_1_2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>
            <a:spLocks noGrp="1"/>
          </p:cNvSpPr>
          <p:nvPr>
            <p:ph type="title"/>
          </p:nvPr>
        </p:nvSpPr>
        <p:spPr>
          <a:xfrm>
            <a:off x="780300" y="1920041"/>
            <a:ext cx="22158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ubTitle" idx="1"/>
          </p:nvPr>
        </p:nvSpPr>
        <p:spPr>
          <a:xfrm>
            <a:off x="780300" y="2420170"/>
            <a:ext cx="221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title" idx="2"/>
          </p:nvPr>
        </p:nvSpPr>
        <p:spPr>
          <a:xfrm>
            <a:off x="3464100" y="3151325"/>
            <a:ext cx="22158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subTitle" idx="3"/>
          </p:nvPr>
        </p:nvSpPr>
        <p:spPr>
          <a:xfrm>
            <a:off x="3464100" y="3651454"/>
            <a:ext cx="221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3"/>
          <p:cNvSpPr txBox="1">
            <a:spLocks noGrp="1"/>
          </p:cNvSpPr>
          <p:nvPr>
            <p:ph type="title" idx="4"/>
          </p:nvPr>
        </p:nvSpPr>
        <p:spPr>
          <a:xfrm>
            <a:off x="6147900" y="1920041"/>
            <a:ext cx="22158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1" name="Google Shape;361;p43"/>
          <p:cNvSpPr txBox="1">
            <a:spLocks noGrp="1"/>
          </p:cNvSpPr>
          <p:nvPr>
            <p:ph type="subTitle" idx="5"/>
          </p:nvPr>
        </p:nvSpPr>
        <p:spPr>
          <a:xfrm>
            <a:off x="6147900" y="2420170"/>
            <a:ext cx="221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3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BLANK_1_1_1_1_1_2_1_1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"/>
          <p:cNvSpPr txBox="1">
            <a:spLocks noGrp="1"/>
          </p:cNvSpPr>
          <p:nvPr>
            <p:ph type="title"/>
          </p:nvPr>
        </p:nvSpPr>
        <p:spPr>
          <a:xfrm>
            <a:off x="1980827" y="1678175"/>
            <a:ext cx="23898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6" name="Google Shape;446;p49"/>
          <p:cNvSpPr txBox="1">
            <a:spLocks noGrp="1"/>
          </p:cNvSpPr>
          <p:nvPr>
            <p:ph type="subTitle" idx="1"/>
          </p:nvPr>
        </p:nvSpPr>
        <p:spPr>
          <a:xfrm>
            <a:off x="1980827" y="2036100"/>
            <a:ext cx="2389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49"/>
          <p:cNvSpPr txBox="1">
            <a:spLocks noGrp="1"/>
          </p:cNvSpPr>
          <p:nvPr>
            <p:ph type="title" idx="2"/>
          </p:nvPr>
        </p:nvSpPr>
        <p:spPr>
          <a:xfrm>
            <a:off x="5832822" y="1678175"/>
            <a:ext cx="23898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8" name="Google Shape;448;p49"/>
          <p:cNvSpPr txBox="1">
            <a:spLocks noGrp="1"/>
          </p:cNvSpPr>
          <p:nvPr>
            <p:ph type="subTitle" idx="3"/>
          </p:nvPr>
        </p:nvSpPr>
        <p:spPr>
          <a:xfrm>
            <a:off x="5832822" y="2036094"/>
            <a:ext cx="2389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9"/>
          <p:cNvSpPr txBox="1">
            <a:spLocks noGrp="1"/>
          </p:cNvSpPr>
          <p:nvPr>
            <p:ph type="title" idx="4"/>
          </p:nvPr>
        </p:nvSpPr>
        <p:spPr>
          <a:xfrm>
            <a:off x="1980827" y="2719726"/>
            <a:ext cx="23898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0" name="Google Shape;450;p49"/>
          <p:cNvSpPr txBox="1">
            <a:spLocks noGrp="1"/>
          </p:cNvSpPr>
          <p:nvPr>
            <p:ph type="subTitle" idx="5"/>
          </p:nvPr>
        </p:nvSpPr>
        <p:spPr>
          <a:xfrm>
            <a:off x="1980827" y="3077648"/>
            <a:ext cx="2389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49"/>
          <p:cNvSpPr txBox="1">
            <a:spLocks noGrp="1"/>
          </p:cNvSpPr>
          <p:nvPr>
            <p:ph type="title" idx="6"/>
          </p:nvPr>
        </p:nvSpPr>
        <p:spPr>
          <a:xfrm>
            <a:off x="1980827" y="3761277"/>
            <a:ext cx="23898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ubTitle" idx="7"/>
          </p:nvPr>
        </p:nvSpPr>
        <p:spPr>
          <a:xfrm>
            <a:off x="1980827" y="4119199"/>
            <a:ext cx="2389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49"/>
          <p:cNvSpPr txBox="1">
            <a:spLocks noGrp="1"/>
          </p:cNvSpPr>
          <p:nvPr>
            <p:ph type="title" idx="8"/>
          </p:nvPr>
        </p:nvSpPr>
        <p:spPr>
          <a:xfrm>
            <a:off x="5832822" y="2719726"/>
            <a:ext cx="23898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4" name="Google Shape;454;p49"/>
          <p:cNvSpPr txBox="1">
            <a:spLocks noGrp="1"/>
          </p:cNvSpPr>
          <p:nvPr>
            <p:ph type="subTitle" idx="9"/>
          </p:nvPr>
        </p:nvSpPr>
        <p:spPr>
          <a:xfrm>
            <a:off x="5832822" y="3077647"/>
            <a:ext cx="2389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49"/>
          <p:cNvSpPr txBox="1">
            <a:spLocks noGrp="1"/>
          </p:cNvSpPr>
          <p:nvPr>
            <p:ph type="title" idx="13"/>
          </p:nvPr>
        </p:nvSpPr>
        <p:spPr>
          <a:xfrm>
            <a:off x="5832822" y="3761277"/>
            <a:ext cx="2389800" cy="3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6" name="Google Shape;456;p49"/>
          <p:cNvSpPr txBox="1">
            <a:spLocks noGrp="1"/>
          </p:cNvSpPr>
          <p:nvPr>
            <p:ph type="subTitle" idx="14"/>
          </p:nvPr>
        </p:nvSpPr>
        <p:spPr>
          <a:xfrm>
            <a:off x="5832822" y="4119199"/>
            <a:ext cx="2389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49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5"/>
          <p:cNvSpPr/>
          <p:nvPr/>
        </p:nvSpPr>
        <p:spPr>
          <a:xfrm>
            <a:off x="1181400" y="4001050"/>
            <a:ext cx="3029400" cy="30294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chemeClr val="accent1">
                <a:alpha val="3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7" name="Google Shape;517;p55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9000006">
            <a:off x="6631531" y="3074710"/>
            <a:ext cx="4407288" cy="304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5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10078522">
            <a:off x="2368356" y="-2528990"/>
            <a:ext cx="4407288" cy="304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5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-8099992">
            <a:off x="-1888368" y="3524285"/>
            <a:ext cx="4407289" cy="304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/>
          <p:nvPr/>
        </p:nvSpPr>
        <p:spPr>
          <a:xfrm>
            <a:off x="6982463" y="3599050"/>
            <a:ext cx="3058800" cy="30588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9525" dir="1032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2" name="Google Shape;522;p56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9134656">
            <a:off x="6293780" y="3644943"/>
            <a:ext cx="4436165" cy="306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6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-2359540">
            <a:off x="-1115599" y="-633789"/>
            <a:ext cx="3498423" cy="241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6"/>
          <p:cNvPicPr preferRelativeResize="0"/>
          <p:nvPr/>
        </p:nvPicPr>
        <p:blipFill rotWithShape="1">
          <a:blip r:embed="rId2">
            <a:alphaModFix/>
          </a:blip>
          <a:srcRect l="7340" r="4538" b="19768"/>
          <a:stretch/>
        </p:blipFill>
        <p:spPr>
          <a:xfrm rot="8382963">
            <a:off x="7473048" y="-1903224"/>
            <a:ext cx="3498429" cy="241361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6"/>
          <p:cNvSpPr/>
          <p:nvPr/>
        </p:nvSpPr>
        <p:spPr>
          <a:xfrm>
            <a:off x="-1677013" y="3486525"/>
            <a:ext cx="3352800" cy="33528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9525" dir="1032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rbitron Black"/>
              <a:buNone/>
              <a:defRPr sz="23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●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○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■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●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○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■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●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Char char="○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"/>
              <a:buChar char="■"/>
              <a:defRPr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8" r:id="rId5"/>
    <p:sldLayoutId id="2147483659" r:id="rId6"/>
    <p:sldLayoutId id="2147483660" r:id="rId7"/>
    <p:sldLayoutId id="2147483663" r:id="rId8"/>
    <p:sldLayoutId id="2147483683" r:id="rId9"/>
    <p:sldLayoutId id="2147483685" r:id="rId10"/>
    <p:sldLayoutId id="2147483686" r:id="rId11"/>
    <p:sldLayoutId id="2147483689" r:id="rId12"/>
    <p:sldLayoutId id="2147483695" r:id="rId13"/>
    <p:sldLayoutId id="2147483701" r:id="rId14"/>
    <p:sldLayoutId id="214748370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59"/>
          <p:cNvGrpSpPr/>
          <p:nvPr/>
        </p:nvGrpSpPr>
        <p:grpSpPr>
          <a:xfrm>
            <a:off x="1213874" y="751483"/>
            <a:ext cx="43276" cy="411646"/>
            <a:chOff x="1256711" y="1178908"/>
            <a:chExt cx="43276" cy="411646"/>
          </a:xfrm>
        </p:grpSpPr>
        <p:grpSp>
          <p:nvGrpSpPr>
            <p:cNvPr id="539" name="Google Shape;539;p59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540" name="Google Shape;540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3" name="Google Shape;543;p59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544" name="Google Shape;544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7" name="Google Shape;547;p59"/>
          <p:cNvGrpSpPr/>
          <p:nvPr/>
        </p:nvGrpSpPr>
        <p:grpSpPr>
          <a:xfrm>
            <a:off x="6947274" y="3898783"/>
            <a:ext cx="43276" cy="411646"/>
            <a:chOff x="1256711" y="1178908"/>
            <a:chExt cx="43276" cy="411646"/>
          </a:xfrm>
        </p:grpSpPr>
        <p:grpSp>
          <p:nvGrpSpPr>
            <p:cNvPr id="548" name="Google Shape;548;p59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549" name="Google Shape;549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2" name="Google Shape;552;p59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553" name="Google Shape;553;p59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59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59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6" name="Google Shape;556;p59"/>
          <p:cNvSpPr/>
          <p:nvPr/>
        </p:nvSpPr>
        <p:spPr>
          <a:xfrm>
            <a:off x="2509175" y="-3861800"/>
            <a:ext cx="4830000" cy="4830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4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9"/>
          <p:cNvSpPr/>
          <p:nvPr/>
        </p:nvSpPr>
        <p:spPr>
          <a:xfrm>
            <a:off x="7446650" y="3964738"/>
            <a:ext cx="1260600" cy="12606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rgbClr val="4877FF">
                <a:alpha val="7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9"/>
          <p:cNvSpPr/>
          <p:nvPr/>
        </p:nvSpPr>
        <p:spPr>
          <a:xfrm>
            <a:off x="-1777700" y="1816800"/>
            <a:ext cx="3524100" cy="35241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chemeClr val="accent1">
                <a:alpha val="4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9"/>
          <p:cNvSpPr/>
          <p:nvPr/>
        </p:nvSpPr>
        <p:spPr>
          <a:xfrm>
            <a:off x="7111775" y="-1569850"/>
            <a:ext cx="3524100" cy="35241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chemeClr val="accent1">
                <a:alpha val="4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0" name="Google Shape;560;p59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134663" flipH="1">
            <a:off x="-1755148" y="3031026"/>
            <a:ext cx="5981304" cy="41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9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2359540" flipH="1">
            <a:off x="6573591" y="-1878314"/>
            <a:ext cx="3498423" cy="2413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9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97" flipH="1">
            <a:off x="906367" y="-2284251"/>
            <a:ext cx="4111489" cy="283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9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7200074" flipH="1">
            <a:off x="6735534" y="2930973"/>
            <a:ext cx="4276576" cy="295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051224">
            <a:off x="7536343" y="152779"/>
            <a:ext cx="709013" cy="53729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9"/>
          <p:cNvSpPr/>
          <p:nvPr/>
        </p:nvSpPr>
        <p:spPr>
          <a:xfrm>
            <a:off x="-680625" y="-262950"/>
            <a:ext cx="1633500" cy="16335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4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536;p59">
            <a:extLst>
              <a:ext uri="{FF2B5EF4-FFF2-40B4-BE49-F238E27FC236}">
                <a16:creationId xmlns:a16="http://schemas.microsoft.com/office/drawing/2014/main" id="{2441C9A3-FA7D-ED92-AFAA-C16287FEB627}"/>
              </a:ext>
            </a:extLst>
          </p:cNvPr>
          <p:cNvSpPr txBox="1">
            <a:spLocks/>
          </p:cNvSpPr>
          <p:nvPr/>
        </p:nvSpPr>
        <p:spPr>
          <a:xfrm>
            <a:off x="1684218" y="2125769"/>
            <a:ext cx="58044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rbitron Black"/>
              <a:buNone/>
              <a:defRPr sz="48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9pPr>
          </a:lstStyle>
          <a:p>
            <a:r>
              <a:rPr lang="en-US" sz="40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Cryptocurrency Sentiment &amp; Market Visualization</a:t>
            </a:r>
          </a:p>
        </p:txBody>
      </p:sp>
      <p:sp>
        <p:nvSpPr>
          <p:cNvPr id="536" name="Google Shape;536;p59"/>
          <p:cNvSpPr txBox="1">
            <a:spLocks noGrp="1"/>
          </p:cNvSpPr>
          <p:nvPr>
            <p:ph type="ctrTitle"/>
          </p:nvPr>
        </p:nvSpPr>
        <p:spPr>
          <a:xfrm>
            <a:off x="1621465" y="2082628"/>
            <a:ext cx="5804400" cy="12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/>
              <a:t>Cryptocurrency Sentiment &amp; Market Visualization</a:t>
            </a:r>
            <a:endParaRPr sz="4000" dirty="0"/>
          </a:p>
        </p:txBody>
      </p:sp>
      <p:sp>
        <p:nvSpPr>
          <p:cNvPr id="32" name="Google Shape;619;p63">
            <a:hlinkClick r:id="rId5" action="ppaction://hlinksldjump"/>
          </p:cNvPr>
          <p:cNvSpPr txBox="1">
            <a:spLocks/>
          </p:cNvSpPr>
          <p:nvPr/>
        </p:nvSpPr>
        <p:spPr>
          <a:xfrm>
            <a:off x="4250425" y="4046579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rbitron Black"/>
              <a:buNone/>
              <a:defRPr sz="48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rbitron Black"/>
              <a:buNone/>
              <a:defRPr sz="52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9pPr>
          </a:lstStyle>
          <a:p>
            <a:r>
              <a:rPr lang="en-US" altLang="zh-TW" sz="2000" dirty="0"/>
              <a:t>Group 6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3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20000" y="194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問題與動機</a:t>
            </a:r>
            <a:endParaRPr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21" name="Google Shape;621;p63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5052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 action="ppaction://hlinksldjump"/>
              </a:rPr>
              <a:t>01</a:t>
            </a:r>
            <a:endParaRPr/>
          </a:p>
        </p:txBody>
      </p:sp>
      <p:sp>
        <p:nvSpPr>
          <p:cNvPr id="622" name="Google Shape;622;p63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3392225" y="207329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資料來源與</a:t>
            </a:r>
            <a:br>
              <a:rPr lang="en-US" altLang="zh-TW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前處理</a:t>
            </a:r>
            <a:endParaRPr b="1" dirty="0">
              <a:solidFill>
                <a:schemeClr val="accent1"/>
              </a:solidFill>
              <a:uFill>
                <a:noFill/>
              </a:u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23" name="Google Shape;623;p63">
            <a:hlinkClick r:id="" action="ppaction://noaction"/>
          </p:cNvPr>
          <p:cNvSpPr txBox="1">
            <a:spLocks noGrp="1"/>
          </p:cNvSpPr>
          <p:nvPr>
            <p:ph type="title" idx="4"/>
          </p:nvPr>
        </p:nvSpPr>
        <p:spPr>
          <a:xfrm>
            <a:off x="3403800" y="15052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02</a:t>
            </a:r>
            <a:endParaRPr/>
          </a:p>
        </p:txBody>
      </p:sp>
      <p:sp>
        <p:nvSpPr>
          <p:cNvPr id="625" name="Google Shape;625;p63">
            <a:hlinkClick r:id="" action="ppaction://noaction"/>
          </p:cNvPr>
          <p:cNvSpPr txBox="1">
            <a:spLocks noGrp="1"/>
          </p:cNvSpPr>
          <p:nvPr>
            <p:ph type="title" idx="6"/>
          </p:nvPr>
        </p:nvSpPr>
        <p:spPr>
          <a:xfrm>
            <a:off x="6076026" y="209644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視覺化</a:t>
            </a:r>
            <a:br>
              <a:rPr lang="en-US" altLang="zh-TW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設計思路</a:t>
            </a:r>
            <a:endParaRPr b="1" dirty="0">
              <a:solidFill>
                <a:schemeClr val="accent1"/>
              </a:solidFill>
              <a:uFill>
                <a:noFill/>
              </a:u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26" name="Google Shape;626;p63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6087600" y="15052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03</a:t>
            </a:r>
            <a:endParaRPr/>
          </a:p>
        </p:txBody>
      </p:sp>
      <p:sp>
        <p:nvSpPr>
          <p:cNvPr id="628" name="Google Shape;628;p63">
            <a:hlinkClick r:id="" action="ppaction://noaction"/>
          </p:cNvPr>
          <p:cNvSpPr txBox="1">
            <a:spLocks noGrp="1"/>
          </p:cNvSpPr>
          <p:nvPr>
            <p:ph type="title" idx="9"/>
          </p:nvPr>
        </p:nvSpPr>
        <p:spPr>
          <a:xfrm>
            <a:off x="720000" y="377492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互動 </a:t>
            </a:r>
            <a:r>
              <a:rPr 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 &amp; </a:t>
            </a:r>
            <a:br>
              <a:rPr 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案例洞見</a:t>
            </a:r>
            <a:endParaRPr b="1" dirty="0">
              <a:solidFill>
                <a:schemeClr val="accent1"/>
              </a:solidFill>
              <a:uFill>
                <a:noFill/>
              </a:u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29" name="Google Shape;629;p63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>
            <a:off x="720000" y="3218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04</a:t>
            </a:r>
            <a:endParaRPr/>
          </a:p>
        </p:txBody>
      </p:sp>
      <p:sp>
        <p:nvSpPr>
          <p:cNvPr id="631" name="Google Shape;631;p63">
            <a:hlinkClick r:id="" action="ppaction://noaction"/>
          </p:cNvPr>
          <p:cNvSpPr txBox="1">
            <a:spLocks noGrp="1"/>
          </p:cNvSpPr>
          <p:nvPr>
            <p:ph type="title" idx="15"/>
          </p:nvPr>
        </p:nvSpPr>
        <p:spPr>
          <a:xfrm>
            <a:off x="3403800" y="374019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成效評估 </a:t>
            </a:r>
            <a:r>
              <a:rPr lang="en-US" altLang="zh-TW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&amp; </a:t>
            </a:r>
            <a:br>
              <a:rPr lang="en-US" altLang="zh-TW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未來擴展</a:t>
            </a:r>
            <a:endParaRPr b="1" dirty="0">
              <a:solidFill>
                <a:schemeClr val="accent1"/>
              </a:solidFill>
              <a:uFill>
                <a:noFill/>
              </a:u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2" name="Google Shape;632;p63">
            <a:hlinkClick r:id="" action="ppaction://noaction"/>
          </p:cNvPr>
          <p:cNvSpPr txBox="1">
            <a:spLocks noGrp="1"/>
          </p:cNvSpPr>
          <p:nvPr>
            <p:ph type="title" idx="16"/>
          </p:nvPr>
        </p:nvSpPr>
        <p:spPr>
          <a:xfrm>
            <a:off x="3403800" y="3218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05</a:t>
            </a:r>
            <a:endParaRPr/>
          </a:p>
        </p:txBody>
      </p:sp>
      <p:sp>
        <p:nvSpPr>
          <p:cNvPr id="634" name="Google Shape;634;p63">
            <a:hlinkClick r:id="" action="ppaction://noaction"/>
          </p:cNvPr>
          <p:cNvSpPr txBox="1">
            <a:spLocks noGrp="1"/>
          </p:cNvSpPr>
          <p:nvPr>
            <p:ph type="title" idx="18"/>
          </p:nvPr>
        </p:nvSpPr>
        <p:spPr>
          <a:xfrm>
            <a:off x="6087600" y="372862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總結 </a:t>
            </a:r>
            <a:br>
              <a:rPr lang="en-US" altLang="zh-TW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Q&amp;A</a:t>
            </a:r>
            <a:endParaRPr b="1" dirty="0">
              <a:solidFill>
                <a:schemeClr val="accent1"/>
              </a:solidFill>
              <a:uFill>
                <a:noFill/>
              </a:u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5" name="Google Shape;635;p63">
            <a:hlinkClick r:id="" action="ppaction://noaction"/>
          </p:cNvPr>
          <p:cNvSpPr txBox="1">
            <a:spLocks noGrp="1"/>
          </p:cNvSpPr>
          <p:nvPr>
            <p:ph type="title" idx="19"/>
          </p:nvPr>
        </p:nvSpPr>
        <p:spPr>
          <a:xfrm>
            <a:off x="6087600" y="3218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06</a:t>
            </a:r>
            <a:endParaRPr/>
          </a:p>
        </p:txBody>
      </p:sp>
      <p:sp>
        <p:nvSpPr>
          <p:cNvPr id="637" name="Google Shape;637;p6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Agenda</a:t>
            </a:r>
            <a:endParaRPr dirty="0"/>
          </a:p>
        </p:txBody>
      </p:sp>
      <p:grpSp>
        <p:nvGrpSpPr>
          <p:cNvPr id="638" name="Google Shape;638;p63"/>
          <p:cNvGrpSpPr/>
          <p:nvPr/>
        </p:nvGrpSpPr>
        <p:grpSpPr>
          <a:xfrm>
            <a:off x="8605274" y="3747208"/>
            <a:ext cx="43276" cy="411646"/>
            <a:chOff x="1256711" y="1178908"/>
            <a:chExt cx="43276" cy="411646"/>
          </a:xfrm>
        </p:grpSpPr>
        <p:grpSp>
          <p:nvGrpSpPr>
            <p:cNvPr id="639" name="Google Shape;639;p6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640" name="Google Shape;640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6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644" name="Google Shape;644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7" name="Google Shape;647;p63"/>
          <p:cNvGrpSpPr/>
          <p:nvPr/>
        </p:nvGrpSpPr>
        <p:grpSpPr>
          <a:xfrm>
            <a:off x="364449" y="1505208"/>
            <a:ext cx="43276" cy="411646"/>
            <a:chOff x="1256711" y="1178908"/>
            <a:chExt cx="43276" cy="411646"/>
          </a:xfrm>
        </p:grpSpPr>
        <p:grpSp>
          <p:nvGrpSpPr>
            <p:cNvPr id="648" name="Google Shape;648;p63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649" name="Google Shape;649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2" name="Google Shape;652;p63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653" name="Google Shape;653;p63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63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63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56" name="Google Shape;656;p63">
            <a:hlinkClick r:id="" action="ppaction://hlinkshowjump?jump=nextslide"/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63">
            <a:hlinkClick r:id="rId4" action="ppaction://hlinksldjump"/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63">
            <a:hlinkClick r:id="" action="ppaction://hlinkshowjump?jump=previousslide"/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59" name="Google Shape;659;p63">
            <a:hlinkClick r:id="rId4" action="ppaction://hlinksldjump"/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63">
            <a:hlinkClick r:id="rId4" action="ppaction://hlinksldjump"/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1" name="Google Shape;661;p63">
            <a:hlinkClick r:id="" action="ppaction://hlinkshowjump?jump=nextslide"/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62" name="Google Shape;662;p63">
            <a:hlinkClick r:id="" action="ppaction://hlinkshowjump?jump=previousslide"/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67"/>
          <p:cNvPicPr preferRelativeResize="0"/>
          <p:nvPr/>
        </p:nvPicPr>
        <p:blipFill rotWithShape="1">
          <a:blip r:embed="rId3">
            <a:alphaModFix/>
          </a:blip>
          <a:srcRect l="18425" t="17031" r="28566" b="17313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/>
          <p:cNvSpPr txBox="1">
            <a:spLocks noGrp="1"/>
          </p:cNvSpPr>
          <p:nvPr>
            <p:ph type="title"/>
          </p:nvPr>
        </p:nvSpPr>
        <p:spPr>
          <a:xfrm>
            <a:off x="788239" y="1539214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問題與動機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6" name="Google Shape;736;p67"/>
          <p:cNvSpPr txBox="1">
            <a:spLocks noGrp="1"/>
          </p:cNvSpPr>
          <p:nvPr>
            <p:ph type="title" idx="2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O1</a:t>
            </a:r>
            <a:endParaRPr/>
          </a:p>
        </p:txBody>
      </p:sp>
      <p:grpSp>
        <p:nvGrpSpPr>
          <p:cNvPr id="737" name="Google Shape;737;p67"/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/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7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7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67"/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/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7"/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7"/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6" name="Google Shape;746;p67">
            <a:hlinkClick r:id="" action="ppaction://hlinkshowjump?jump=nextslide"/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7">
            <a:hlinkClick r:id="rId4" action="ppaction://hlinksldjump"/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67">
            <a:hlinkClick r:id="" action="ppaction://hlinkshowjump?jump=previousslide"/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r:id="rId4" action="ppaction://hlinksldjump"/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7">
            <a:hlinkClick r:id="rId4" action="ppaction://hlinksldjump"/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67">
            <a:hlinkClick r:id="" action="ppaction://hlinkshowjump?jump=nextslide"/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2" name="Google Shape;752;p67">
            <a:hlinkClick r:id="" action="ppaction://hlinkshowjump?jump=previousslide"/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753" name="Google Shape;753;p67"/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/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>
          <a:extLst>
            <a:ext uri="{FF2B5EF4-FFF2-40B4-BE49-F238E27FC236}">
              <a16:creationId xmlns:a16="http://schemas.microsoft.com/office/drawing/2014/main" id="{E3FCA199-9C0D-962D-B744-E5CC0A643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26E5FA5-0B6E-6201-229D-BE909534D6D8}"/>
              </a:ext>
            </a:extLst>
          </p:cNvPr>
          <p:cNvSpPr/>
          <p:nvPr/>
        </p:nvSpPr>
        <p:spPr>
          <a:xfrm>
            <a:off x="2715904" y="3029802"/>
            <a:ext cx="3985146" cy="68238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22" name="Google Shape;822;p71">
            <a:extLst>
              <a:ext uri="{FF2B5EF4-FFF2-40B4-BE49-F238E27FC236}">
                <a16:creationId xmlns:a16="http://schemas.microsoft.com/office/drawing/2014/main" id="{86CAE072-7965-69A9-25AB-5C4FB697FD53}"/>
              </a:ext>
            </a:extLst>
          </p:cNvPr>
          <p:cNvSpPr/>
          <p:nvPr/>
        </p:nvSpPr>
        <p:spPr>
          <a:xfrm rot="10800000">
            <a:off x="7668763" y="-2540632"/>
            <a:ext cx="4510200" cy="4510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71">
            <a:extLst>
              <a:ext uri="{FF2B5EF4-FFF2-40B4-BE49-F238E27FC236}">
                <a16:creationId xmlns:a16="http://schemas.microsoft.com/office/drawing/2014/main" id="{6C27B8D9-32CD-8F2A-165D-BDCDA91FFA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問題與動機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828" name="Google Shape;828;p71">
            <a:extLst>
              <a:ext uri="{FF2B5EF4-FFF2-40B4-BE49-F238E27FC236}">
                <a16:creationId xmlns:a16="http://schemas.microsoft.com/office/drawing/2014/main" id="{8DBE025E-06B8-C47E-631A-C0F1F4A32E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10799986">
            <a:off x="1509799" y="3942510"/>
            <a:ext cx="6354529" cy="4384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1">
            <a:extLst>
              <a:ext uri="{FF2B5EF4-FFF2-40B4-BE49-F238E27FC236}">
                <a16:creationId xmlns:a16="http://schemas.microsoft.com/office/drawing/2014/main" id="{E9F2420D-315B-28D1-EBED-6697E0B93F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-1411519" y="-1183698"/>
            <a:ext cx="3431410" cy="236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1">
            <a:extLst>
              <a:ext uri="{FF2B5EF4-FFF2-40B4-BE49-F238E27FC236}">
                <a16:creationId xmlns:a16="http://schemas.microsoft.com/office/drawing/2014/main" id="{FFB69159-1C80-379C-75D7-4D22F96D7F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8208170" y="2145555"/>
            <a:ext cx="3431410" cy="23673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D99A77-EC17-170E-0E38-C52F8F957A39}"/>
              </a:ext>
            </a:extLst>
          </p:cNvPr>
          <p:cNvSpPr txBox="1"/>
          <p:nvPr/>
        </p:nvSpPr>
        <p:spPr>
          <a:xfrm>
            <a:off x="2108579" y="1115353"/>
            <a:ext cx="50428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zh-TW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加密貨幣高波動 </a:t>
            </a:r>
            <a:endParaRPr lang="en-US" altLang="zh-TW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lnSpc>
                <a:spcPct val="250000"/>
              </a:lnSpc>
            </a:pPr>
            <a:r>
              <a:rPr lang="zh-TW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如何進行分析</a:t>
            </a:r>
            <a:r>
              <a:rPr lang="en-US" altLang="zh-TW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79CA3469-B417-D660-3554-FE739F0EFAB4}"/>
              </a:ext>
            </a:extLst>
          </p:cNvPr>
          <p:cNvSpPr/>
          <p:nvPr/>
        </p:nvSpPr>
        <p:spPr>
          <a:xfrm rot="5400000">
            <a:off x="4285396" y="2402007"/>
            <a:ext cx="477672" cy="600501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9117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037E0246-1231-7672-8430-AEA86371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67">
            <a:extLst>
              <a:ext uri="{FF2B5EF4-FFF2-40B4-BE49-F238E27FC236}">
                <a16:creationId xmlns:a16="http://schemas.microsoft.com/office/drawing/2014/main" id="{FAB507EE-C3F5-8E55-BA53-C9A27D41AA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425" t="17031" r="28566" b="17313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>
            <a:extLst>
              <a:ext uri="{FF2B5EF4-FFF2-40B4-BE49-F238E27FC236}">
                <a16:creationId xmlns:a16="http://schemas.microsoft.com/office/drawing/2014/main" id="{5D046839-7979-AE94-945E-AC0AD1DB43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239" y="1539214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資料來源與</a:t>
            </a:r>
            <a:b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前處理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6" name="Google Shape;736;p67">
            <a:extLst>
              <a:ext uri="{FF2B5EF4-FFF2-40B4-BE49-F238E27FC236}">
                <a16:creationId xmlns:a16="http://schemas.microsoft.com/office/drawing/2014/main" id="{DD29E69A-AF63-8ECA-0EF7-32F7A09052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O2</a:t>
            </a:r>
            <a:endParaRPr dirty="0"/>
          </a:p>
        </p:txBody>
      </p:sp>
      <p:grpSp>
        <p:nvGrpSpPr>
          <p:cNvPr id="737" name="Google Shape;737;p67">
            <a:extLst>
              <a:ext uri="{FF2B5EF4-FFF2-40B4-BE49-F238E27FC236}">
                <a16:creationId xmlns:a16="http://schemas.microsoft.com/office/drawing/2014/main" id="{BD37086B-D12A-C8C9-1B56-FE0ADFA1B6F7}"/>
              </a:ext>
            </a:extLst>
          </p:cNvPr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>
              <a:extLst>
                <a:ext uri="{FF2B5EF4-FFF2-40B4-BE49-F238E27FC236}">
                  <a16:creationId xmlns:a16="http://schemas.microsoft.com/office/drawing/2014/main" id="{4BB3B686-612A-9087-7B38-D5A312C0CB3E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>
                <a:extLst>
                  <a:ext uri="{FF2B5EF4-FFF2-40B4-BE49-F238E27FC236}">
                    <a16:creationId xmlns:a16="http://schemas.microsoft.com/office/drawing/2014/main" id="{F9218994-508B-A1C4-F1EF-879C554A2634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7">
                <a:extLst>
                  <a:ext uri="{FF2B5EF4-FFF2-40B4-BE49-F238E27FC236}">
                    <a16:creationId xmlns:a16="http://schemas.microsoft.com/office/drawing/2014/main" id="{2EBD1F23-0148-50BB-4B75-720AAB6E0183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7">
                <a:extLst>
                  <a:ext uri="{FF2B5EF4-FFF2-40B4-BE49-F238E27FC236}">
                    <a16:creationId xmlns:a16="http://schemas.microsoft.com/office/drawing/2014/main" id="{07E27DDA-CC84-FD62-2725-F118441719EF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67">
              <a:extLst>
                <a:ext uri="{FF2B5EF4-FFF2-40B4-BE49-F238E27FC236}">
                  <a16:creationId xmlns:a16="http://schemas.microsoft.com/office/drawing/2014/main" id="{F95A032A-8F3F-16B8-3BB7-6DA164464090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>
                <a:extLst>
                  <a:ext uri="{FF2B5EF4-FFF2-40B4-BE49-F238E27FC236}">
                    <a16:creationId xmlns:a16="http://schemas.microsoft.com/office/drawing/2014/main" id="{1391193B-C5C4-B6B6-1F8D-BB7CE7B3F6CC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7">
                <a:extLst>
                  <a:ext uri="{FF2B5EF4-FFF2-40B4-BE49-F238E27FC236}">
                    <a16:creationId xmlns:a16="http://schemas.microsoft.com/office/drawing/2014/main" id="{65935785-8515-FCC5-B17B-28A6841BDCED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7">
                <a:extLst>
                  <a:ext uri="{FF2B5EF4-FFF2-40B4-BE49-F238E27FC236}">
                    <a16:creationId xmlns:a16="http://schemas.microsoft.com/office/drawing/2014/main" id="{9A48C017-A009-7ED6-A27A-5578645EF99D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6" name="Google Shape;746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E0DEED2-37FD-486A-A005-CEBC1529096A}"/>
              </a:ext>
            </a:extLst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7">
            <a:hlinkClick r:id="rId4" action="ppaction://hlinksldjump"/>
            <a:extLst>
              <a:ext uri="{FF2B5EF4-FFF2-40B4-BE49-F238E27FC236}">
                <a16:creationId xmlns:a16="http://schemas.microsoft.com/office/drawing/2014/main" id="{860AB70E-8F67-BF75-9F6E-5817B05D9D11}"/>
              </a:ext>
            </a:extLst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28D46E4-E20E-30C5-4E6C-A1227853A8BB}"/>
              </a:ext>
            </a:extLst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r:id="rId4" action="ppaction://hlinksldjump"/>
            <a:extLst>
              <a:ext uri="{FF2B5EF4-FFF2-40B4-BE49-F238E27FC236}">
                <a16:creationId xmlns:a16="http://schemas.microsoft.com/office/drawing/2014/main" id="{DCE0EEAE-62ED-8776-ADE2-198C1B8B9A1C}"/>
              </a:ext>
            </a:extLst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7">
            <a:hlinkClick r:id="rId4" action="ppaction://hlinksldjump"/>
            <a:extLst>
              <a:ext uri="{FF2B5EF4-FFF2-40B4-BE49-F238E27FC236}">
                <a16:creationId xmlns:a16="http://schemas.microsoft.com/office/drawing/2014/main" id="{B3EEF99E-94E2-51AF-EAFD-EB9BDBAC2E34}"/>
              </a:ext>
            </a:extLst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EB3124B-3F92-BB7C-C14D-9B0D8DC238B7}"/>
              </a:ext>
            </a:extLst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2" name="Google Shape;75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1B1C0DC-0A79-C2F0-F8C9-8BCB1FDBC5AD}"/>
              </a:ext>
            </a:extLst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753" name="Google Shape;753;p67">
            <a:extLst>
              <a:ext uri="{FF2B5EF4-FFF2-40B4-BE49-F238E27FC236}">
                <a16:creationId xmlns:a16="http://schemas.microsoft.com/office/drawing/2014/main" id="{F36DAC06-EC8F-9B4A-DCB7-B7F1E017A2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>
            <a:extLst>
              <a:ext uri="{FF2B5EF4-FFF2-40B4-BE49-F238E27FC236}">
                <a16:creationId xmlns:a16="http://schemas.microsoft.com/office/drawing/2014/main" id="{3986C6CF-3CE1-F4F8-155D-F882FFF191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673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8CA92CD0-2C34-1BAA-9029-09963747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72">
            <a:extLst>
              <a:ext uri="{FF2B5EF4-FFF2-40B4-BE49-F238E27FC236}">
                <a16:creationId xmlns:a16="http://schemas.microsoft.com/office/drawing/2014/main" id="{C3C14A57-CFFD-0BD3-C554-9295F70ADB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333501">
            <a:off x="7264209" y="-954035"/>
            <a:ext cx="3431409" cy="23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2">
            <a:extLst>
              <a:ext uri="{FF2B5EF4-FFF2-40B4-BE49-F238E27FC236}">
                <a16:creationId xmlns:a16="http://schemas.microsoft.com/office/drawing/2014/main" id="{9690A4DF-C15A-7267-DD80-2F24DA2FFC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7262645" y="3420292"/>
            <a:ext cx="3431410" cy="236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>
            <a:extLst>
              <a:ext uri="{FF2B5EF4-FFF2-40B4-BE49-F238E27FC236}">
                <a16:creationId xmlns:a16="http://schemas.microsoft.com/office/drawing/2014/main" id="{C048CFA0-74B2-9B40-6968-EE0751BAF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6259102">
            <a:off x="-3286999" y="1736870"/>
            <a:ext cx="5744551" cy="3963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>
            <a:extLst>
              <a:ext uri="{FF2B5EF4-FFF2-40B4-BE49-F238E27FC236}">
                <a16:creationId xmlns:a16="http://schemas.microsoft.com/office/drawing/2014/main" id="{D240919F-FFF2-842C-7330-F7DFC652D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資料來源概覽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6B37535-78B1-B0AA-9567-E24AB0FDAB3D}"/>
              </a:ext>
            </a:extLst>
          </p:cNvPr>
          <p:cNvSpPr txBox="1"/>
          <p:nvPr/>
        </p:nvSpPr>
        <p:spPr>
          <a:xfrm>
            <a:off x="1803867" y="1114566"/>
            <a:ext cx="704906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>
                <a:solidFill>
                  <a:schemeClr val="accent1"/>
                </a:solidFill>
              </a:rPr>
              <a:t>▸ 價格：</a:t>
            </a:r>
            <a:r>
              <a:rPr lang="en-US" altLang="zh-TW" dirty="0"/>
              <a:t>Yahoo </a:t>
            </a:r>
            <a:r>
              <a:rPr lang="en-US" altLang="zh-TW" dirty="0" err="1"/>
              <a:t>Finace</a:t>
            </a:r>
            <a:r>
              <a:rPr lang="en-US" altLang="zh-TW" dirty="0"/>
              <a:t>(</a:t>
            </a:r>
            <a:r>
              <a:rPr lang="en-US" altLang="zh-TW" dirty="0" err="1"/>
              <a:t>yFinance</a:t>
            </a:r>
            <a:r>
              <a:rPr lang="en-US" altLang="zh-TW" dirty="0"/>
              <a:t>)</a:t>
            </a:r>
            <a:endParaRPr lang="zh-TW" altLang="en-US" dirty="0"/>
          </a:p>
          <a:p>
            <a:pPr>
              <a:lnSpc>
                <a:spcPct val="150000"/>
              </a:lnSpc>
            </a:pPr>
            <a:r>
              <a:rPr lang="zh-TW" altLang="en-US" b="1" dirty="0">
                <a:solidFill>
                  <a:schemeClr val="accent1"/>
                </a:solidFill>
              </a:rPr>
              <a:t>▸ 推文：</a:t>
            </a:r>
            <a:r>
              <a:rPr lang="zh-TW" altLang="en-US" dirty="0"/>
              <a:t>Apify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cost ≈ \$0.0004/req）</a:t>
            </a:r>
          </a:p>
          <a:p>
            <a:pPr>
              <a:lnSpc>
                <a:spcPct val="150000"/>
              </a:lnSpc>
            </a:pPr>
            <a:r>
              <a:rPr lang="zh-TW" altLang="en-US" b="1" dirty="0">
                <a:solidFill>
                  <a:schemeClr val="accent1"/>
                </a:solidFill>
              </a:rPr>
              <a:t>▸ 篩選條件：</a:t>
            </a:r>
            <a:endParaRPr lang="zh-TW" altLang="en-US" dirty="0"/>
          </a:p>
          <a:p>
            <a:pPr>
              <a:lnSpc>
                <a:spcPct val="150000"/>
              </a:lnSpc>
            </a:pPr>
            <a:r>
              <a:rPr lang="zh-TW" altLang="en-US" b="1" dirty="0"/>
              <a:t>bitcoin</a:t>
            </a:r>
            <a:r>
              <a:rPr lang="zh-TW" altLang="en-US" dirty="0"/>
              <a:t> OR </a:t>
            </a:r>
            <a:r>
              <a:rPr lang="zh-TW" altLang="en-US" b="1" dirty="0"/>
              <a:t>btc</a:t>
            </a:r>
            <a:r>
              <a:rPr lang="zh-TW" altLang="en-US" dirty="0"/>
              <a:t> OR </a:t>
            </a:r>
            <a:r>
              <a:rPr lang="zh-TW" altLang="en-US" b="1" dirty="0"/>
              <a:t>crypto</a:t>
            </a:r>
            <a:r>
              <a:rPr lang="zh-TW" altLang="en-US" dirty="0"/>
              <a:t> min_replies:3 min_retweets:10 min_faves:30</a:t>
            </a:r>
          </a:p>
          <a:p>
            <a:r>
              <a:rPr lang="zh-TW" altLang="en-US" dirty="0"/>
              <a:t>  "includeSearchTerms": false,</a:t>
            </a:r>
          </a:p>
          <a:p>
            <a:r>
              <a:rPr lang="zh-TW" altLang="en-US" dirty="0"/>
              <a:t>  "onlyImage": false,</a:t>
            </a:r>
          </a:p>
          <a:p>
            <a:r>
              <a:rPr lang="zh-TW" altLang="en-US" dirty="0"/>
              <a:t>  "onlyQuote": false,</a:t>
            </a:r>
          </a:p>
          <a:p>
            <a:r>
              <a:rPr lang="zh-TW" altLang="en-US" dirty="0"/>
              <a:t>  "onlyTwitterBlue": false,</a:t>
            </a:r>
          </a:p>
          <a:p>
            <a:r>
              <a:rPr lang="zh-TW" altLang="en-US" dirty="0"/>
              <a:t>  "onlyVerifiedUsers": false,</a:t>
            </a:r>
          </a:p>
          <a:p>
            <a:r>
              <a:rPr lang="zh-TW" altLang="en-US" dirty="0"/>
              <a:t>  "onlyVideo": false,</a:t>
            </a:r>
          </a:p>
          <a:p>
            <a:r>
              <a:rPr lang="zh-TW" altLang="en-US" dirty="0"/>
              <a:t>    "sort": "Top",</a:t>
            </a:r>
          </a:p>
          <a:p>
            <a:r>
              <a:rPr lang="zh-TW" altLang="en-US" dirty="0"/>
              <a:t>  "tweetLanguage": "en"</a:t>
            </a:r>
          </a:p>
          <a:p>
            <a:endParaRPr lang="zh-TW" altLang="en-US" dirty="0"/>
          </a:p>
          <a:p>
            <a:r>
              <a:rPr lang="zh-TW" altLang="en-US" b="1" dirty="0">
                <a:solidFill>
                  <a:schemeClr val="accent1"/>
                </a:solidFill>
              </a:rPr>
              <a:t>▸ 時間範圍：</a:t>
            </a:r>
            <a:r>
              <a:rPr lang="zh-TW" altLang="en-US" dirty="0"/>
              <a:t>2020-01-01 — 2024-12-31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10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8CA92CD0-2C34-1BAA-9029-09963747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72">
            <a:extLst>
              <a:ext uri="{FF2B5EF4-FFF2-40B4-BE49-F238E27FC236}">
                <a16:creationId xmlns:a16="http://schemas.microsoft.com/office/drawing/2014/main" id="{C3C14A57-CFFD-0BD3-C554-9295F70ADB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333501">
            <a:off x="7264209" y="-954035"/>
            <a:ext cx="3431409" cy="23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2">
            <a:extLst>
              <a:ext uri="{FF2B5EF4-FFF2-40B4-BE49-F238E27FC236}">
                <a16:creationId xmlns:a16="http://schemas.microsoft.com/office/drawing/2014/main" id="{9690A4DF-C15A-7267-DD80-2F24DA2FFC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7262645" y="3420292"/>
            <a:ext cx="3431410" cy="236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>
            <a:extLst>
              <a:ext uri="{FF2B5EF4-FFF2-40B4-BE49-F238E27FC236}">
                <a16:creationId xmlns:a16="http://schemas.microsoft.com/office/drawing/2014/main" id="{C048CFA0-74B2-9B40-6968-EE0751BAF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6259102">
            <a:off x="-3286999" y="1736870"/>
            <a:ext cx="5744551" cy="3963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>
            <a:extLst>
              <a:ext uri="{FF2B5EF4-FFF2-40B4-BE49-F238E27FC236}">
                <a16:creationId xmlns:a16="http://schemas.microsoft.com/office/drawing/2014/main" id="{D240919F-FFF2-842C-7330-F7DFC652D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資料來源概覽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26" name="Picture 2" descr="資料來源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697" y="1017725"/>
            <a:ext cx="5768606" cy="376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06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80F75B31-7D31-A4CC-C94B-2069CBB0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72">
            <a:extLst>
              <a:ext uri="{FF2B5EF4-FFF2-40B4-BE49-F238E27FC236}">
                <a16:creationId xmlns:a16="http://schemas.microsoft.com/office/drawing/2014/main" id="{7E72968A-7E45-DC50-C0AD-2F65C6E9CB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333501">
            <a:off x="7264209" y="-954035"/>
            <a:ext cx="3431409" cy="23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2">
            <a:extLst>
              <a:ext uri="{FF2B5EF4-FFF2-40B4-BE49-F238E27FC236}">
                <a16:creationId xmlns:a16="http://schemas.microsoft.com/office/drawing/2014/main" id="{721F2969-4DF2-35A6-9E99-9C672CEF66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7262645" y="3420292"/>
            <a:ext cx="3431410" cy="236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>
            <a:extLst>
              <a:ext uri="{FF2B5EF4-FFF2-40B4-BE49-F238E27FC236}">
                <a16:creationId xmlns:a16="http://schemas.microsoft.com/office/drawing/2014/main" id="{5EC6EB73-0C9D-1655-6037-56E39AF717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6259102">
            <a:off x="-3286999" y="1736870"/>
            <a:ext cx="5744551" cy="3963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>
            <a:extLst>
              <a:ext uri="{FF2B5EF4-FFF2-40B4-BE49-F238E27FC236}">
                <a16:creationId xmlns:a16="http://schemas.microsoft.com/office/drawing/2014/main" id="{7038E339-F90A-4E8B-B7F8-335C10105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資料來源概覽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050" name="Picture 2" descr="資料來源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42" y="1042017"/>
            <a:ext cx="8567510" cy="356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62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8CA92CD0-2C34-1BAA-9029-09963747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72">
            <a:extLst>
              <a:ext uri="{FF2B5EF4-FFF2-40B4-BE49-F238E27FC236}">
                <a16:creationId xmlns:a16="http://schemas.microsoft.com/office/drawing/2014/main" id="{C3C14A57-CFFD-0BD3-C554-9295F70ADB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333501">
            <a:off x="7264209" y="-954035"/>
            <a:ext cx="3431409" cy="23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2">
            <a:extLst>
              <a:ext uri="{FF2B5EF4-FFF2-40B4-BE49-F238E27FC236}">
                <a16:creationId xmlns:a16="http://schemas.microsoft.com/office/drawing/2014/main" id="{9690A4DF-C15A-7267-DD80-2F24DA2FFC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7262645" y="3420292"/>
            <a:ext cx="3431410" cy="236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>
            <a:extLst>
              <a:ext uri="{FF2B5EF4-FFF2-40B4-BE49-F238E27FC236}">
                <a16:creationId xmlns:a16="http://schemas.microsoft.com/office/drawing/2014/main" id="{C048CFA0-74B2-9B40-6968-EE0751BAF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6259102">
            <a:off x="-3286999" y="1736870"/>
            <a:ext cx="5744551" cy="3963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>
            <a:extLst>
              <a:ext uri="{FF2B5EF4-FFF2-40B4-BE49-F238E27FC236}">
                <a16:creationId xmlns:a16="http://schemas.microsoft.com/office/drawing/2014/main" id="{D240919F-FFF2-842C-7330-F7DFC652D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資料來源概覽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074" name="Picture 2" descr="已上傳的圖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542" y="993981"/>
            <a:ext cx="4504915" cy="405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7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1"/>
          <p:cNvSpPr/>
          <p:nvPr/>
        </p:nvSpPr>
        <p:spPr>
          <a:xfrm rot="10800000">
            <a:off x="7668763" y="-2540632"/>
            <a:ext cx="4510200" cy="4510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4" name="Google Shape;824;p71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81">
            <a:off x="829006" y="1918082"/>
            <a:ext cx="1302260" cy="89845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/>
          <p:nvPr/>
        </p:nvSpPr>
        <p:spPr>
          <a:xfrm>
            <a:off x="637846" y="1589334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4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804947">
            <a:off x="3917195" y="1613284"/>
            <a:ext cx="1302259" cy="89845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/>
          <p:nvPr/>
        </p:nvSpPr>
        <p:spPr>
          <a:xfrm>
            <a:off x="3734165" y="1598859"/>
            <a:ext cx="1182300" cy="11823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4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8" name="Google Shape;828;p71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10799986">
            <a:off x="1427912" y="3944999"/>
            <a:ext cx="6354529" cy="4384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1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-1575292" y="-1127033"/>
            <a:ext cx="3431410" cy="2367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0" name="Google Shape;830;p71"/>
          <p:cNvGrpSpPr/>
          <p:nvPr/>
        </p:nvGrpSpPr>
        <p:grpSpPr>
          <a:xfrm>
            <a:off x="881585" y="1884007"/>
            <a:ext cx="694838" cy="612025"/>
            <a:chOff x="2380985" y="4016145"/>
            <a:chExt cx="387918" cy="341704"/>
          </a:xfrm>
        </p:grpSpPr>
        <p:sp>
          <p:nvSpPr>
            <p:cNvPr id="831" name="Google Shape;831;p71"/>
            <p:cNvSpPr/>
            <p:nvPr/>
          </p:nvSpPr>
          <p:spPr>
            <a:xfrm>
              <a:off x="2380985" y="4016145"/>
              <a:ext cx="387918" cy="341704"/>
            </a:xfrm>
            <a:custGeom>
              <a:avLst/>
              <a:gdLst/>
              <a:ahLst/>
              <a:cxnLst/>
              <a:rect l="l" t="t" r="r" b="b"/>
              <a:pathLst>
                <a:path w="14362" h="12651" extrusionOk="0">
                  <a:moveTo>
                    <a:pt x="13515" y="828"/>
                  </a:moveTo>
                  <a:lnTo>
                    <a:pt x="13515" y="8458"/>
                  </a:lnTo>
                  <a:lnTo>
                    <a:pt x="846" y="8458"/>
                  </a:lnTo>
                  <a:lnTo>
                    <a:pt x="846" y="828"/>
                  </a:lnTo>
                  <a:close/>
                  <a:moveTo>
                    <a:pt x="13515" y="9286"/>
                  </a:moveTo>
                  <a:lnTo>
                    <a:pt x="13515" y="10131"/>
                  </a:lnTo>
                  <a:lnTo>
                    <a:pt x="846" y="10131"/>
                  </a:lnTo>
                  <a:lnTo>
                    <a:pt x="846" y="9286"/>
                  </a:lnTo>
                  <a:close/>
                  <a:moveTo>
                    <a:pt x="8584" y="10978"/>
                  </a:moveTo>
                  <a:lnTo>
                    <a:pt x="8584" y="11823"/>
                  </a:lnTo>
                  <a:lnTo>
                    <a:pt x="5777" y="11823"/>
                  </a:lnTo>
                  <a:lnTo>
                    <a:pt x="5777" y="10978"/>
                  </a:lnTo>
                  <a:close/>
                  <a:moveTo>
                    <a:pt x="0" y="0"/>
                  </a:moveTo>
                  <a:lnTo>
                    <a:pt x="0" y="10978"/>
                  </a:lnTo>
                  <a:lnTo>
                    <a:pt x="4931" y="10978"/>
                  </a:lnTo>
                  <a:lnTo>
                    <a:pt x="4931" y="11823"/>
                  </a:lnTo>
                  <a:lnTo>
                    <a:pt x="3816" y="11823"/>
                  </a:lnTo>
                  <a:lnTo>
                    <a:pt x="3816" y="12651"/>
                  </a:lnTo>
                  <a:lnTo>
                    <a:pt x="10546" y="12651"/>
                  </a:lnTo>
                  <a:lnTo>
                    <a:pt x="10546" y="11823"/>
                  </a:lnTo>
                  <a:lnTo>
                    <a:pt x="9431" y="11823"/>
                  </a:lnTo>
                  <a:lnTo>
                    <a:pt x="9431" y="10978"/>
                  </a:lnTo>
                  <a:lnTo>
                    <a:pt x="14362" y="10978"/>
                  </a:lnTo>
                  <a:lnTo>
                    <a:pt x="14362" y="0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71"/>
            <p:cNvSpPr/>
            <p:nvPr/>
          </p:nvSpPr>
          <p:spPr>
            <a:xfrm>
              <a:off x="2478194" y="4069085"/>
              <a:ext cx="193500" cy="144882"/>
            </a:xfrm>
            <a:custGeom>
              <a:avLst/>
              <a:gdLst/>
              <a:ahLst/>
              <a:cxnLst/>
              <a:rect l="l" t="t" r="r" b="b"/>
              <a:pathLst>
                <a:path w="7164" h="5364" extrusionOk="0">
                  <a:moveTo>
                    <a:pt x="4301" y="829"/>
                  </a:moveTo>
                  <a:cubicBezTo>
                    <a:pt x="5417" y="829"/>
                    <a:pt x="6317" y="1747"/>
                    <a:pt x="6317" y="2863"/>
                  </a:cubicBezTo>
                  <a:cubicBezTo>
                    <a:pt x="6317" y="3780"/>
                    <a:pt x="5580" y="4536"/>
                    <a:pt x="4661" y="4536"/>
                  </a:cubicBezTo>
                  <a:lnTo>
                    <a:pt x="4500" y="4536"/>
                  </a:lnTo>
                  <a:cubicBezTo>
                    <a:pt x="3924" y="4536"/>
                    <a:pt x="3420" y="4212"/>
                    <a:pt x="3168" y="3708"/>
                  </a:cubicBezTo>
                  <a:lnTo>
                    <a:pt x="3060" y="3475"/>
                  </a:lnTo>
                  <a:lnTo>
                    <a:pt x="1998" y="3475"/>
                  </a:lnTo>
                  <a:cubicBezTo>
                    <a:pt x="1368" y="3475"/>
                    <a:pt x="846" y="2971"/>
                    <a:pt x="846" y="2341"/>
                  </a:cubicBezTo>
                  <a:cubicBezTo>
                    <a:pt x="846" y="1513"/>
                    <a:pt x="1512" y="829"/>
                    <a:pt x="2340" y="829"/>
                  </a:cubicBezTo>
                  <a:close/>
                  <a:moveTo>
                    <a:pt x="2340" y="1"/>
                  </a:moveTo>
                  <a:cubicBezTo>
                    <a:pt x="1045" y="1"/>
                    <a:pt x="1" y="1045"/>
                    <a:pt x="1" y="2341"/>
                  </a:cubicBezTo>
                  <a:cubicBezTo>
                    <a:pt x="1" y="3439"/>
                    <a:pt x="901" y="4320"/>
                    <a:pt x="1998" y="4320"/>
                  </a:cubicBezTo>
                  <a:lnTo>
                    <a:pt x="2556" y="4320"/>
                  </a:lnTo>
                  <a:cubicBezTo>
                    <a:pt x="2988" y="4968"/>
                    <a:pt x="3708" y="5364"/>
                    <a:pt x="4500" y="5364"/>
                  </a:cubicBezTo>
                  <a:lnTo>
                    <a:pt x="4661" y="5364"/>
                  </a:lnTo>
                  <a:cubicBezTo>
                    <a:pt x="6048" y="5364"/>
                    <a:pt x="7163" y="4248"/>
                    <a:pt x="7163" y="2863"/>
                  </a:cubicBezTo>
                  <a:cubicBezTo>
                    <a:pt x="7163" y="1279"/>
                    <a:pt x="5885" y="1"/>
                    <a:pt x="4301" y="1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71"/>
          <p:cNvGrpSpPr/>
          <p:nvPr/>
        </p:nvGrpSpPr>
        <p:grpSpPr>
          <a:xfrm>
            <a:off x="4110946" y="1883254"/>
            <a:ext cx="447806" cy="613524"/>
            <a:chOff x="713226" y="4016145"/>
            <a:chExt cx="291654" cy="399586"/>
          </a:xfrm>
        </p:grpSpPr>
        <p:sp>
          <p:nvSpPr>
            <p:cNvPr id="834" name="Google Shape;834;p71"/>
            <p:cNvSpPr/>
            <p:nvPr/>
          </p:nvSpPr>
          <p:spPr>
            <a:xfrm>
              <a:off x="759872" y="4251862"/>
              <a:ext cx="23877" cy="23364"/>
            </a:xfrm>
            <a:custGeom>
              <a:avLst/>
              <a:gdLst/>
              <a:ahLst/>
              <a:cxnLst/>
              <a:rect l="l" t="t" r="r" b="b"/>
              <a:pathLst>
                <a:path w="884" h="865" extrusionOk="0">
                  <a:moveTo>
                    <a:pt x="1" y="1"/>
                  </a:moveTo>
                  <a:lnTo>
                    <a:pt x="1" y="864"/>
                  </a:lnTo>
                  <a:lnTo>
                    <a:pt x="883" y="864"/>
                  </a:lnTo>
                  <a:lnTo>
                    <a:pt x="883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1"/>
            <p:cNvSpPr/>
            <p:nvPr/>
          </p:nvSpPr>
          <p:spPr>
            <a:xfrm>
              <a:off x="759872" y="4345694"/>
              <a:ext cx="23877" cy="23364"/>
            </a:xfrm>
            <a:custGeom>
              <a:avLst/>
              <a:gdLst/>
              <a:ahLst/>
              <a:cxnLst/>
              <a:rect l="l" t="t" r="r" b="b"/>
              <a:pathLst>
                <a:path w="884" h="865" extrusionOk="0">
                  <a:moveTo>
                    <a:pt x="1" y="1"/>
                  </a:moveTo>
                  <a:lnTo>
                    <a:pt x="1" y="864"/>
                  </a:lnTo>
                  <a:lnTo>
                    <a:pt x="883" y="864"/>
                  </a:lnTo>
                  <a:lnTo>
                    <a:pt x="883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1"/>
            <p:cNvSpPr/>
            <p:nvPr/>
          </p:nvSpPr>
          <p:spPr>
            <a:xfrm>
              <a:off x="934410" y="4251862"/>
              <a:ext cx="23337" cy="23364"/>
            </a:xfrm>
            <a:custGeom>
              <a:avLst/>
              <a:gdLst/>
              <a:ahLst/>
              <a:cxnLst/>
              <a:rect l="l" t="t" r="r" b="b"/>
              <a:pathLst>
                <a:path w="864" h="865" extrusionOk="0">
                  <a:moveTo>
                    <a:pt x="0" y="1"/>
                  </a:moveTo>
                  <a:lnTo>
                    <a:pt x="0" y="864"/>
                  </a:lnTo>
                  <a:lnTo>
                    <a:pt x="864" y="864"/>
                  </a:lnTo>
                  <a:lnTo>
                    <a:pt x="864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1"/>
            <p:cNvSpPr/>
            <p:nvPr/>
          </p:nvSpPr>
          <p:spPr>
            <a:xfrm>
              <a:off x="934410" y="4345694"/>
              <a:ext cx="23337" cy="23364"/>
            </a:xfrm>
            <a:custGeom>
              <a:avLst/>
              <a:gdLst/>
              <a:ahLst/>
              <a:cxnLst/>
              <a:rect l="l" t="t" r="r" b="b"/>
              <a:pathLst>
                <a:path w="864" h="865" extrusionOk="0">
                  <a:moveTo>
                    <a:pt x="0" y="1"/>
                  </a:moveTo>
                  <a:lnTo>
                    <a:pt x="0" y="864"/>
                  </a:lnTo>
                  <a:lnTo>
                    <a:pt x="864" y="864"/>
                  </a:lnTo>
                  <a:lnTo>
                    <a:pt x="864" y="1"/>
                  </a:ln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71"/>
            <p:cNvSpPr/>
            <p:nvPr/>
          </p:nvSpPr>
          <p:spPr>
            <a:xfrm>
              <a:off x="713226" y="4016145"/>
              <a:ext cx="291654" cy="399586"/>
            </a:xfrm>
            <a:custGeom>
              <a:avLst/>
              <a:gdLst/>
              <a:ahLst/>
              <a:cxnLst/>
              <a:rect l="l" t="t" r="r" b="b"/>
              <a:pathLst>
                <a:path w="10798" h="14794" extrusionOk="0">
                  <a:moveTo>
                    <a:pt x="4302" y="864"/>
                  </a:moveTo>
                  <a:cubicBezTo>
                    <a:pt x="4895" y="864"/>
                    <a:pt x="5435" y="1188"/>
                    <a:pt x="5723" y="1709"/>
                  </a:cubicBezTo>
                  <a:lnTo>
                    <a:pt x="5867" y="1980"/>
                  </a:lnTo>
                  <a:lnTo>
                    <a:pt x="6173" y="1925"/>
                  </a:lnTo>
                  <a:cubicBezTo>
                    <a:pt x="6263" y="1908"/>
                    <a:pt x="6371" y="1908"/>
                    <a:pt x="6461" y="1908"/>
                  </a:cubicBezTo>
                  <a:cubicBezTo>
                    <a:pt x="7091" y="1908"/>
                    <a:pt x="7649" y="2249"/>
                    <a:pt x="7954" y="2808"/>
                  </a:cubicBezTo>
                  <a:lnTo>
                    <a:pt x="8062" y="3041"/>
                  </a:lnTo>
                  <a:lnTo>
                    <a:pt x="8818" y="3041"/>
                  </a:lnTo>
                  <a:cubicBezTo>
                    <a:pt x="9430" y="3041"/>
                    <a:pt x="9934" y="3527"/>
                    <a:pt x="9934" y="4139"/>
                  </a:cubicBezTo>
                  <a:cubicBezTo>
                    <a:pt x="9934" y="4751"/>
                    <a:pt x="9430" y="5255"/>
                    <a:pt x="8818" y="5255"/>
                  </a:cubicBezTo>
                  <a:lnTo>
                    <a:pt x="2250" y="5255"/>
                  </a:lnTo>
                  <a:cubicBezTo>
                    <a:pt x="1494" y="5255"/>
                    <a:pt x="864" y="4624"/>
                    <a:pt x="864" y="3869"/>
                  </a:cubicBezTo>
                  <a:cubicBezTo>
                    <a:pt x="864" y="3095"/>
                    <a:pt x="1494" y="2484"/>
                    <a:pt x="2250" y="2484"/>
                  </a:cubicBezTo>
                  <a:lnTo>
                    <a:pt x="2646" y="2484"/>
                  </a:lnTo>
                  <a:lnTo>
                    <a:pt x="2718" y="2124"/>
                  </a:lnTo>
                  <a:cubicBezTo>
                    <a:pt x="2879" y="1385"/>
                    <a:pt x="3546" y="864"/>
                    <a:pt x="4302" y="864"/>
                  </a:cubicBezTo>
                  <a:close/>
                  <a:moveTo>
                    <a:pt x="9934" y="7847"/>
                  </a:moveTo>
                  <a:lnTo>
                    <a:pt x="9934" y="10455"/>
                  </a:lnTo>
                  <a:lnTo>
                    <a:pt x="864" y="10455"/>
                  </a:lnTo>
                  <a:lnTo>
                    <a:pt x="864" y="7847"/>
                  </a:lnTo>
                  <a:close/>
                  <a:moveTo>
                    <a:pt x="9934" y="11319"/>
                  </a:moveTo>
                  <a:lnTo>
                    <a:pt x="9934" y="13929"/>
                  </a:lnTo>
                  <a:lnTo>
                    <a:pt x="864" y="13929"/>
                  </a:lnTo>
                  <a:lnTo>
                    <a:pt x="864" y="11319"/>
                  </a:lnTo>
                  <a:close/>
                  <a:moveTo>
                    <a:pt x="4302" y="0"/>
                  </a:moveTo>
                  <a:cubicBezTo>
                    <a:pt x="3726" y="0"/>
                    <a:pt x="3167" y="197"/>
                    <a:pt x="2735" y="557"/>
                  </a:cubicBezTo>
                  <a:cubicBezTo>
                    <a:pt x="2376" y="828"/>
                    <a:pt x="2124" y="1205"/>
                    <a:pt x="1962" y="1620"/>
                  </a:cubicBezTo>
                  <a:cubicBezTo>
                    <a:pt x="864" y="1764"/>
                    <a:pt x="0" y="2717"/>
                    <a:pt x="0" y="3869"/>
                  </a:cubicBezTo>
                  <a:cubicBezTo>
                    <a:pt x="0" y="5111"/>
                    <a:pt x="1008" y="6119"/>
                    <a:pt x="2250" y="6119"/>
                  </a:cubicBezTo>
                  <a:lnTo>
                    <a:pt x="4967" y="6119"/>
                  </a:lnTo>
                  <a:lnTo>
                    <a:pt x="4967" y="6983"/>
                  </a:lnTo>
                  <a:lnTo>
                    <a:pt x="0" y="6983"/>
                  </a:lnTo>
                  <a:lnTo>
                    <a:pt x="0" y="14793"/>
                  </a:lnTo>
                  <a:lnTo>
                    <a:pt x="10798" y="14793"/>
                  </a:lnTo>
                  <a:lnTo>
                    <a:pt x="10798" y="6983"/>
                  </a:lnTo>
                  <a:lnTo>
                    <a:pt x="5831" y="6983"/>
                  </a:lnTo>
                  <a:lnTo>
                    <a:pt x="5831" y="6119"/>
                  </a:lnTo>
                  <a:lnTo>
                    <a:pt x="8818" y="6119"/>
                  </a:lnTo>
                  <a:cubicBezTo>
                    <a:pt x="9898" y="6119"/>
                    <a:pt x="10798" y="5236"/>
                    <a:pt x="10798" y="4139"/>
                  </a:cubicBezTo>
                  <a:cubicBezTo>
                    <a:pt x="10798" y="3059"/>
                    <a:pt x="9898" y="2160"/>
                    <a:pt x="8818" y="2160"/>
                  </a:cubicBezTo>
                  <a:lnTo>
                    <a:pt x="8585" y="2160"/>
                  </a:lnTo>
                  <a:cubicBezTo>
                    <a:pt x="8117" y="1457"/>
                    <a:pt x="7325" y="1025"/>
                    <a:pt x="6461" y="1025"/>
                  </a:cubicBezTo>
                  <a:cubicBezTo>
                    <a:pt x="6407" y="1025"/>
                    <a:pt x="6371" y="1025"/>
                    <a:pt x="6317" y="1044"/>
                  </a:cubicBezTo>
                  <a:cubicBezTo>
                    <a:pt x="5867" y="377"/>
                    <a:pt x="5111" y="0"/>
                    <a:pt x="4302" y="0"/>
                  </a:cubicBezTo>
                  <a:close/>
                </a:path>
              </a:pathLst>
            </a:custGeom>
            <a:gradFill>
              <a:gsLst>
                <a:gs pos="0">
                  <a:srgbClr val="8DF1FF"/>
                </a:gs>
                <a:gs pos="30000">
                  <a:srgbClr val="F2CEFF"/>
                </a:gs>
                <a:gs pos="100000">
                  <a:srgbClr val="0445FF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71"/>
          <p:cNvSpPr txBox="1">
            <a:spLocks noGrp="1"/>
          </p:cNvSpPr>
          <p:nvPr>
            <p:ph type="subTitle" idx="1"/>
          </p:nvPr>
        </p:nvSpPr>
        <p:spPr>
          <a:xfrm>
            <a:off x="1963743" y="1714334"/>
            <a:ext cx="18459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300"/>
              <a:buFont typeface="Orbitron Black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資料抓取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40" name="Google Shape;840;p71"/>
          <p:cNvSpPr txBox="1">
            <a:spLocks noGrp="1"/>
          </p:cNvSpPr>
          <p:nvPr>
            <p:ph type="subTitle" idx="2"/>
          </p:nvPr>
        </p:nvSpPr>
        <p:spPr>
          <a:xfrm>
            <a:off x="5431538" y="1714334"/>
            <a:ext cx="18459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300"/>
              <a:buFont typeface="Orbitron Black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資料清洗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41" name="Google Shape;841;p71"/>
          <p:cNvSpPr txBox="1">
            <a:spLocks noGrp="1"/>
          </p:cNvSpPr>
          <p:nvPr>
            <p:ph type="subTitle" idx="3"/>
          </p:nvPr>
        </p:nvSpPr>
        <p:spPr>
          <a:xfrm>
            <a:off x="1963749" y="2137912"/>
            <a:ext cx="2107867" cy="10422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Darker Grotesque"/>
                <a:sym typeface="Darker Grotesque"/>
              </a:rPr>
              <a:t>推文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Darker Grotesque"/>
                <a:sym typeface="Darker Grotesque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Darker Grotesque"/>
                <a:sym typeface="Darker Grotesque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Darker Grotesque"/>
                <a:sym typeface="Darker Grotesque"/>
              </a:rPr>
              <a:t>55,142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Darker Grotesque"/>
                <a:sym typeface="Darker Grotesque"/>
              </a:rPr>
              <a:t>檔案大小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Darker Grotesque"/>
                <a:sym typeface="Darker Grotesque"/>
              </a:rPr>
              <a:t>: 34.1 MB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cs typeface="Darker Grotesque"/>
              <a:sym typeface="Darker Grotesque"/>
            </a:endParaRPr>
          </a:p>
        </p:txBody>
      </p:sp>
      <p:pic>
        <p:nvPicPr>
          <p:cNvPr id="843" name="Google Shape;843;p71"/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8208170" y="2145555"/>
            <a:ext cx="3431410" cy="2367397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1">
            <a:hlinkClick r:id="" action="ppaction://hlinkshowjump?jump=nextslide"/>
          </p:cNvPr>
          <p:cNvSpPr/>
          <p:nvPr/>
        </p:nvSpPr>
        <p:spPr>
          <a:xfrm>
            <a:off x="271492" y="210017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71">
            <a:hlinkClick r:id="rId4" action="ppaction://hlinksldjump"/>
          </p:cNvPr>
          <p:cNvSpPr/>
          <p:nvPr/>
        </p:nvSpPr>
        <p:spPr>
          <a:xfrm>
            <a:off x="271492" y="235007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1"/>
          <p:cNvSpPr/>
          <p:nvPr/>
        </p:nvSpPr>
        <p:spPr>
          <a:xfrm>
            <a:off x="271492" y="259998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847" name="Google Shape;847;p71">
            <a:hlinkClick r:id="rId4" action="ppaction://hlinksldjump"/>
          </p:cNvPr>
          <p:cNvSpPr/>
          <p:nvPr/>
        </p:nvSpPr>
        <p:spPr>
          <a:xfrm>
            <a:off x="312597" y="238631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71">
            <a:hlinkClick r:id="rId4" action="ppaction://hlinksldjump"/>
          </p:cNvPr>
          <p:cNvSpPr/>
          <p:nvPr/>
        </p:nvSpPr>
        <p:spPr>
          <a:xfrm>
            <a:off x="337227" y="242729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9" name="Google Shape;849;p71">
            <a:hlinkClick r:id="" action="ppaction://hlinkshowjump?jump=nextslide"/>
          </p:cNvPr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50" name="Google Shape;850;p71">
            <a:hlinkClick r:id="" action="ppaction://hlinkshowjump?jump=previousslide"/>
          </p:cNvPr>
          <p:cNvSpPr/>
          <p:nvPr/>
        </p:nvSpPr>
        <p:spPr>
          <a:xfrm>
            <a:off x="271492" y="2849890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1" name="Google Shape;851;p71">
            <a:hlinkClick r:id="" action="ppaction://hlinkshowjump?jump=previousslide"/>
          </p:cNvPr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4" name="Google Shape;798;p70">
            <a:extLst>
              <a:ext uri="{FF2B5EF4-FFF2-40B4-BE49-F238E27FC236}">
                <a16:creationId xmlns:a16="http://schemas.microsoft.com/office/drawing/2014/main" id="{D6261875-D44A-31ED-E4AC-B04733C25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抓取與 </a:t>
            </a:r>
            <a:r>
              <a:rPr 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ETL Pipeline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4"/>
          </p:nvPr>
        </p:nvSpPr>
        <p:spPr>
          <a:xfrm>
            <a:off x="4687967" y="2155413"/>
            <a:ext cx="4710049" cy="204958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移除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URL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https?://t.co/…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轉小寫（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fold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標點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特殊字元清理（正規化連續標點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!!! → !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Emoji ↔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文字　😊→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smiling_face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Strip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多餘空白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Hashtag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正規化：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#Bitcoin→ bitcoin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@mentions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替換：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@USER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停用詞＋自訂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Crypto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字典</a:t>
            </a:r>
          </a:p>
        </p:txBody>
      </p:sp>
    </p:spTree>
    <p:extLst>
      <p:ext uri="{BB962C8B-B14F-4D97-AF65-F5344CB8AC3E}">
        <p14:creationId xmlns:p14="http://schemas.microsoft.com/office/powerpoint/2010/main" val="335037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8" name="Google Shape;1528;p91"/>
          <p:cNvGraphicFramePr/>
          <p:nvPr>
            <p:extLst>
              <p:ext uri="{D42A27DB-BD31-4B8C-83A1-F6EECF244321}">
                <p14:modId xmlns:p14="http://schemas.microsoft.com/office/powerpoint/2010/main" val="853786554"/>
              </p:ext>
            </p:extLst>
          </p:nvPr>
        </p:nvGraphicFramePr>
        <p:xfrm>
          <a:off x="628225" y="1094655"/>
          <a:ext cx="7461675" cy="3756745"/>
        </p:xfrm>
        <a:graphic>
          <a:graphicData uri="http://schemas.openxmlformats.org/drawingml/2006/table">
            <a:tbl>
              <a:tblPr>
                <a:noFill/>
                <a:tableStyleId>{8F8D6D4B-DB7C-42DB-B80A-B3B7FA9A9740}</a:tableStyleId>
              </a:tblPr>
              <a:tblGrid>
                <a:gridCol w="1988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7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Orbitron"/>
                        <a:ea typeface="Orbitron"/>
                        <a:cs typeface="Orbitron"/>
                        <a:sym typeface="Orbitron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8DF1FF"/>
                        </a:gs>
                        <a:gs pos="30000">
                          <a:srgbClr val="F2CEFF"/>
                        </a:gs>
                        <a:gs pos="100000">
                          <a:srgbClr val="0445FF"/>
                        </a:gs>
                      </a:gsLst>
                      <a:lin ang="80993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Darker Grotesque"/>
                        </a:rPr>
                        <a:t>訓練語料 </a:t>
                      </a:r>
                      <a:r>
                        <a:rPr lang="en-US" altLang="zh-TW" sz="18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Darker Grotesque"/>
                        </a:rPr>
                        <a:t>/ </a:t>
                      </a:r>
                      <a:r>
                        <a:rPr lang="zh-TW" altLang="en-US" sz="18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Darker Grotesque"/>
                        </a:rPr>
                        <a:t>領域</a:t>
                      </a:r>
                      <a:endParaRPr sz="18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Darker Grotesque"/>
                        <a:sym typeface="Darker Grotesq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FinBERT</a:t>
                      </a:r>
                      <a:endParaRPr sz="1800" b="1" dirty="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- 4.9 M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以上金融新聞、</a:t>
                      </a:r>
                      <a:r>
                        <a:rPr lang="en-US" altLang="zh-TW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10-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K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報告等金融文本，再以 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Financial </a:t>
                      </a:r>
                      <a:r>
                        <a:rPr lang="en-US" sz="1800" b="1" i="0" u="none" strike="noStrike" cap="none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PhraseBank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標記情緒微調 </a:t>
                      </a:r>
                      <a:endParaRPr sz="1800" b="1" i="0" u="none" strike="noStrike" cap="none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Darker Grotesque"/>
                        <a:sym typeface="Orbitron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CryptoBERT</a:t>
                      </a:r>
                      <a:endParaRPr sz="1800" b="1" dirty="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320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萬條加密貨幣推文 </a:t>
                      </a:r>
                      <a:r>
                        <a:rPr lang="en-US" altLang="zh-TW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(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Twitter / </a:t>
                      </a:r>
                      <a:r>
                        <a:rPr lang="en-US" sz="1800" b="1" i="0" u="none" strike="noStrike" cap="none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Reddit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)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進一步在 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Twitter-</a:t>
                      </a:r>
                      <a:r>
                        <a:rPr lang="en-US" sz="1800" b="1" i="0" u="none" strike="noStrike" cap="none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RoBERTa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上繼續預訓練</a:t>
                      </a:r>
                      <a:endParaRPr sz="1800" b="1" i="0" u="none" strike="noStrike" cap="none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Darker Grotesque"/>
                        <a:sym typeface="Orbitron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6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RoBERTa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 </a:t>
                      </a:r>
                      <a:endParaRPr sz="1800" b="1" dirty="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160 GB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通用英文語料 </a:t>
                      </a:r>
                      <a:r>
                        <a:rPr lang="en-US" altLang="zh-TW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(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Book-Wiki + Web) 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無監督自訓；非金融</a:t>
                      </a:r>
                      <a:r>
                        <a:rPr lang="en-US" altLang="zh-TW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/</a:t>
                      </a:r>
                      <a:r>
                        <a:rPr lang="zh-TW" altLang="en-US" sz="1800" b="1" i="0" u="none" strike="noStrike" cap="none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Darker Grotesque"/>
                          <a:sym typeface="Orbitron"/>
                        </a:rPr>
                        <a:t>非推文特化</a:t>
                      </a:r>
                      <a:endParaRPr sz="1800" b="1" i="0" u="none" strike="noStrike" cap="none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Darker Grotesque"/>
                        <a:sym typeface="Orbitron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0" name="Google Shape;1530;p91">
            <a:hlinkClick r:id="" action="ppaction://hlinkshowjump?jump=nextslide"/>
          </p:cNvPr>
          <p:cNvSpPr/>
          <p:nvPr/>
        </p:nvSpPr>
        <p:spPr>
          <a:xfrm>
            <a:off x="271492" y="210017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91">
            <a:hlinkClick r:id="rId3" action="ppaction://hlinksldjump"/>
          </p:cNvPr>
          <p:cNvSpPr/>
          <p:nvPr/>
        </p:nvSpPr>
        <p:spPr>
          <a:xfrm>
            <a:off x="271492" y="235007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91"/>
          <p:cNvSpPr/>
          <p:nvPr/>
        </p:nvSpPr>
        <p:spPr>
          <a:xfrm>
            <a:off x="271492" y="259998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533" name="Google Shape;1533;p91">
            <a:hlinkClick r:id="rId3" action="ppaction://hlinksldjump"/>
          </p:cNvPr>
          <p:cNvSpPr/>
          <p:nvPr/>
        </p:nvSpPr>
        <p:spPr>
          <a:xfrm>
            <a:off x="312597" y="238631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91">
            <a:hlinkClick r:id="rId3" action="ppaction://hlinksldjump"/>
          </p:cNvPr>
          <p:cNvSpPr/>
          <p:nvPr/>
        </p:nvSpPr>
        <p:spPr>
          <a:xfrm>
            <a:off x="337227" y="242729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35" name="Google Shape;1535;p91">
            <a:hlinkClick r:id="" action="ppaction://hlinkshowjump?jump=nextslide"/>
          </p:cNvPr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36" name="Google Shape;1536;p91">
            <a:hlinkClick r:id="" action="ppaction://hlinkshowjump?jump=previousslide"/>
          </p:cNvPr>
          <p:cNvSpPr/>
          <p:nvPr/>
        </p:nvSpPr>
        <p:spPr>
          <a:xfrm>
            <a:off x="271492" y="2849890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37" name="Google Shape;1537;p91">
            <a:hlinkClick r:id="" action="ppaction://hlinkshowjump?jump=previousslide"/>
          </p:cNvPr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" name="Google Shape;798;p70">
            <a:extLst>
              <a:ext uri="{FF2B5EF4-FFF2-40B4-BE49-F238E27FC236}">
                <a16:creationId xmlns:a16="http://schemas.microsoft.com/office/drawing/2014/main" id="{8967B5E1-3054-E8B4-1AFC-922CD3F7946C}"/>
              </a:ext>
            </a:extLst>
          </p:cNvPr>
          <p:cNvSpPr txBox="1">
            <a:spLocks noGrp="1"/>
          </p:cNvSpPr>
          <p:nvPr/>
        </p:nvSpPr>
        <p:spPr>
          <a:xfrm>
            <a:off x="507062" y="380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18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rbitron Black"/>
              <a:buNone/>
              <a:defRPr sz="2500" b="0" i="0" u="none" strike="noStrike" cap="none">
                <a:solidFill>
                  <a:schemeClr val="dk1"/>
                </a:solidFill>
                <a:latin typeface="Orbitron Black"/>
                <a:ea typeface="Orbitron Black"/>
                <a:cs typeface="Orbitron Black"/>
                <a:sym typeface="Orbitron Black"/>
              </a:defRPr>
            </a:lvl9pPr>
          </a:lstStyle>
          <a:p>
            <a:pPr lvl="0" algn="ctr"/>
            <a:r>
              <a:rPr lang="zh-TW" altLang="en-US" sz="23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情緒模型三方比較</a:t>
            </a:r>
            <a:endParaRPr sz="23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644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>
          <a:extLst>
            <a:ext uri="{FF2B5EF4-FFF2-40B4-BE49-F238E27FC236}">
              <a16:creationId xmlns:a16="http://schemas.microsoft.com/office/drawing/2014/main" id="{9DA42B86-416E-D0D7-2E34-D01BA2D38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3" name="Google Shape;1203;p85">
            <a:extLst>
              <a:ext uri="{FF2B5EF4-FFF2-40B4-BE49-F238E27FC236}">
                <a16:creationId xmlns:a16="http://schemas.microsoft.com/office/drawing/2014/main" id="{E46F2DA1-1740-7E92-3287-A6EF47274A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502208">
            <a:off x="7413836" y="184545"/>
            <a:ext cx="3048323" cy="230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85">
            <a:extLst>
              <a:ext uri="{FF2B5EF4-FFF2-40B4-BE49-F238E27FC236}">
                <a16:creationId xmlns:a16="http://schemas.microsoft.com/office/drawing/2014/main" id="{BDD0152B-80AC-F692-3293-E3C9688778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340" r="4538" b="19768"/>
          <a:stretch/>
        </p:blipFill>
        <p:spPr>
          <a:xfrm rot="-2319082">
            <a:off x="-942465" y="-764591"/>
            <a:ext cx="2940004" cy="2028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85">
            <a:extLst>
              <a:ext uri="{FF2B5EF4-FFF2-40B4-BE49-F238E27FC236}">
                <a16:creationId xmlns:a16="http://schemas.microsoft.com/office/drawing/2014/main" id="{A169E646-7644-0BC1-CE5F-1EA1F21FB0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340" r="4538" b="19768"/>
          <a:stretch/>
        </p:blipFill>
        <p:spPr>
          <a:xfrm rot="-8999957">
            <a:off x="-756776" y="4367046"/>
            <a:ext cx="2940004" cy="2028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79" y="274310"/>
            <a:ext cx="5807647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5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>
          <a:extLst>
            <a:ext uri="{FF2B5EF4-FFF2-40B4-BE49-F238E27FC236}">
              <a16:creationId xmlns:a16="http://schemas.microsoft.com/office/drawing/2014/main" id="{206BF870-9091-1A01-6AB8-9A6A6B88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65">
            <a:extLst>
              <a:ext uri="{FF2B5EF4-FFF2-40B4-BE49-F238E27FC236}">
                <a16:creationId xmlns:a16="http://schemas.microsoft.com/office/drawing/2014/main" id="{E7A0A306-5227-BECF-3E16-0417B96A38E2}"/>
              </a:ext>
            </a:extLst>
          </p:cNvPr>
          <p:cNvGrpSpPr/>
          <p:nvPr/>
        </p:nvGrpSpPr>
        <p:grpSpPr>
          <a:xfrm>
            <a:off x="604274" y="2961283"/>
            <a:ext cx="43276" cy="411646"/>
            <a:chOff x="1256711" y="1178908"/>
            <a:chExt cx="43276" cy="411646"/>
          </a:xfrm>
        </p:grpSpPr>
        <p:grpSp>
          <p:nvGrpSpPr>
            <p:cNvPr id="685" name="Google Shape;685;p65">
              <a:extLst>
                <a:ext uri="{FF2B5EF4-FFF2-40B4-BE49-F238E27FC236}">
                  <a16:creationId xmlns:a16="http://schemas.microsoft.com/office/drawing/2014/main" id="{B9EBF825-30D6-DFE4-6536-A003243B121E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686" name="Google Shape;686;p65">
                <a:extLst>
                  <a:ext uri="{FF2B5EF4-FFF2-40B4-BE49-F238E27FC236}">
                    <a16:creationId xmlns:a16="http://schemas.microsoft.com/office/drawing/2014/main" id="{137EA191-7272-1707-008C-6D25F989AFA7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65">
                <a:extLst>
                  <a:ext uri="{FF2B5EF4-FFF2-40B4-BE49-F238E27FC236}">
                    <a16:creationId xmlns:a16="http://schemas.microsoft.com/office/drawing/2014/main" id="{659A59E2-1CD9-C2D4-7B42-C2A617124856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65">
                <a:extLst>
                  <a:ext uri="{FF2B5EF4-FFF2-40B4-BE49-F238E27FC236}">
                    <a16:creationId xmlns:a16="http://schemas.microsoft.com/office/drawing/2014/main" id="{2D8241ED-533B-FA4D-DBC4-BDFED5CA1FE1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9" name="Google Shape;689;p65">
              <a:extLst>
                <a:ext uri="{FF2B5EF4-FFF2-40B4-BE49-F238E27FC236}">
                  <a16:creationId xmlns:a16="http://schemas.microsoft.com/office/drawing/2014/main" id="{F2E67376-C0BB-B5E3-31A2-4A42E820BF97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690" name="Google Shape;690;p65">
                <a:extLst>
                  <a:ext uri="{FF2B5EF4-FFF2-40B4-BE49-F238E27FC236}">
                    <a16:creationId xmlns:a16="http://schemas.microsoft.com/office/drawing/2014/main" id="{CBD9429D-C3DF-D255-A61C-168B9847B565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65">
                <a:extLst>
                  <a:ext uri="{FF2B5EF4-FFF2-40B4-BE49-F238E27FC236}">
                    <a16:creationId xmlns:a16="http://schemas.microsoft.com/office/drawing/2014/main" id="{4A90DEB5-5E4B-7AF9-306D-AD5A5C482137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65">
                <a:extLst>
                  <a:ext uri="{FF2B5EF4-FFF2-40B4-BE49-F238E27FC236}">
                    <a16:creationId xmlns:a16="http://schemas.microsoft.com/office/drawing/2014/main" id="{B43FB95B-E6E2-5968-9DB7-3F44366F2E30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3" name="Google Shape;693;p65">
            <a:extLst>
              <a:ext uri="{FF2B5EF4-FFF2-40B4-BE49-F238E27FC236}">
                <a16:creationId xmlns:a16="http://schemas.microsoft.com/office/drawing/2014/main" id="{351ED280-5ED4-2AF3-FB85-35ACA49CBCCB}"/>
              </a:ext>
            </a:extLst>
          </p:cNvPr>
          <p:cNvGrpSpPr/>
          <p:nvPr/>
        </p:nvGrpSpPr>
        <p:grpSpPr>
          <a:xfrm>
            <a:off x="8490874" y="1254533"/>
            <a:ext cx="43276" cy="411646"/>
            <a:chOff x="1256711" y="1178908"/>
            <a:chExt cx="43276" cy="411646"/>
          </a:xfrm>
        </p:grpSpPr>
        <p:grpSp>
          <p:nvGrpSpPr>
            <p:cNvPr id="694" name="Google Shape;694;p65">
              <a:extLst>
                <a:ext uri="{FF2B5EF4-FFF2-40B4-BE49-F238E27FC236}">
                  <a16:creationId xmlns:a16="http://schemas.microsoft.com/office/drawing/2014/main" id="{C035C3D6-9A0D-A684-8EC6-433D3DB40B0A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695" name="Google Shape;695;p65">
                <a:extLst>
                  <a:ext uri="{FF2B5EF4-FFF2-40B4-BE49-F238E27FC236}">
                    <a16:creationId xmlns:a16="http://schemas.microsoft.com/office/drawing/2014/main" id="{9484FDE6-4B10-5F9B-DCD8-5F4B9B501358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65">
                <a:extLst>
                  <a:ext uri="{FF2B5EF4-FFF2-40B4-BE49-F238E27FC236}">
                    <a16:creationId xmlns:a16="http://schemas.microsoft.com/office/drawing/2014/main" id="{48B45987-7BB8-B70F-E131-755314F5C689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65">
                <a:extLst>
                  <a:ext uri="{FF2B5EF4-FFF2-40B4-BE49-F238E27FC236}">
                    <a16:creationId xmlns:a16="http://schemas.microsoft.com/office/drawing/2014/main" id="{08C4BE83-62FB-3D99-2A1F-034CB0CD9321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8" name="Google Shape;698;p65">
              <a:extLst>
                <a:ext uri="{FF2B5EF4-FFF2-40B4-BE49-F238E27FC236}">
                  <a16:creationId xmlns:a16="http://schemas.microsoft.com/office/drawing/2014/main" id="{D285650A-519F-B411-9FAC-7CA36B6FC470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699" name="Google Shape;699;p65">
                <a:extLst>
                  <a:ext uri="{FF2B5EF4-FFF2-40B4-BE49-F238E27FC236}">
                    <a16:creationId xmlns:a16="http://schemas.microsoft.com/office/drawing/2014/main" id="{45EF04F3-D835-52B2-2645-78B73087EE01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65">
                <a:extLst>
                  <a:ext uri="{FF2B5EF4-FFF2-40B4-BE49-F238E27FC236}">
                    <a16:creationId xmlns:a16="http://schemas.microsoft.com/office/drawing/2014/main" id="{B9ED14DE-11B5-C254-DE26-6EF475249B60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65">
                <a:extLst>
                  <a:ext uri="{FF2B5EF4-FFF2-40B4-BE49-F238E27FC236}">
                    <a16:creationId xmlns:a16="http://schemas.microsoft.com/office/drawing/2014/main" id="{7F3A1DCC-88A5-F8B1-3C9D-7F1EDAAC15D3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4BABA1-C7EE-426B-8EB6-35ABEB60D481}"/>
              </a:ext>
            </a:extLst>
          </p:cNvPr>
          <p:cNvSpPr txBox="1"/>
          <p:nvPr/>
        </p:nvSpPr>
        <p:spPr>
          <a:xfrm>
            <a:off x="1365741" y="1136955"/>
            <a:ext cx="657664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TW" altLang="en-US" sz="23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總共同項目數量: 55142</a:t>
            </a:r>
            <a:endParaRPr lang="zh-TW" altLang="en-US" sz="23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200000"/>
              </a:lnSpc>
            </a:pPr>
            <a:r>
              <a:rPr lang="zh-TW" altLang="en-US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完全一致項目: 12611 (22.87%)</a:t>
            </a:r>
          </a:p>
          <a:p>
            <a:pPr algn="ctr">
              <a:lnSpc>
                <a:spcPct val="200000"/>
              </a:lnSpc>
            </a:pPr>
            <a:r>
              <a:rPr lang="zh-TW" altLang="en-US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部分一致項目: 38646 (70.08%)</a:t>
            </a:r>
          </a:p>
          <a:p>
            <a:pPr algn="ctr">
              <a:lnSpc>
                <a:spcPct val="200000"/>
              </a:lnSpc>
            </a:pPr>
            <a:r>
              <a:rPr lang="zh-TW" altLang="en-US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完全不一致項目: 3885 (7.05%)</a:t>
            </a:r>
            <a:endParaRPr lang="en-US" altLang="zh-TW" sz="23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200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6690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92A36C50-128F-448F-8BAD-7BB42825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67">
            <a:extLst>
              <a:ext uri="{FF2B5EF4-FFF2-40B4-BE49-F238E27FC236}">
                <a16:creationId xmlns:a16="http://schemas.microsoft.com/office/drawing/2014/main" id="{0A03FC76-3A0B-360B-508C-3C0F307173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425" t="17031" r="28566" b="17313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>
            <a:extLst>
              <a:ext uri="{FF2B5EF4-FFF2-40B4-BE49-F238E27FC236}">
                <a16:creationId xmlns:a16="http://schemas.microsoft.com/office/drawing/2014/main" id="{8499AE76-6097-340A-21B3-987E872C6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239" y="1686698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視覺化</a:t>
            </a:r>
            <a:b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設計思路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6" name="Google Shape;736;p67">
            <a:extLst>
              <a:ext uri="{FF2B5EF4-FFF2-40B4-BE49-F238E27FC236}">
                <a16:creationId xmlns:a16="http://schemas.microsoft.com/office/drawing/2014/main" id="{1F0D9B08-C0A8-F850-4516-CD99CADD87A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O3</a:t>
            </a:r>
            <a:endParaRPr dirty="0"/>
          </a:p>
        </p:txBody>
      </p:sp>
      <p:grpSp>
        <p:nvGrpSpPr>
          <p:cNvPr id="737" name="Google Shape;737;p67">
            <a:extLst>
              <a:ext uri="{FF2B5EF4-FFF2-40B4-BE49-F238E27FC236}">
                <a16:creationId xmlns:a16="http://schemas.microsoft.com/office/drawing/2014/main" id="{6DC1BAC4-27CA-2BDA-4321-526CEB99BFD6}"/>
              </a:ext>
            </a:extLst>
          </p:cNvPr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>
              <a:extLst>
                <a:ext uri="{FF2B5EF4-FFF2-40B4-BE49-F238E27FC236}">
                  <a16:creationId xmlns:a16="http://schemas.microsoft.com/office/drawing/2014/main" id="{8D59B391-61BB-35EF-5C56-6D15B0404C3E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>
                <a:extLst>
                  <a:ext uri="{FF2B5EF4-FFF2-40B4-BE49-F238E27FC236}">
                    <a16:creationId xmlns:a16="http://schemas.microsoft.com/office/drawing/2014/main" id="{6711C585-E8FA-3B72-20C1-041FA8D4AAAC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7">
                <a:extLst>
                  <a:ext uri="{FF2B5EF4-FFF2-40B4-BE49-F238E27FC236}">
                    <a16:creationId xmlns:a16="http://schemas.microsoft.com/office/drawing/2014/main" id="{D5BB04F1-7633-DC18-8221-253C54E7C6FE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7">
                <a:extLst>
                  <a:ext uri="{FF2B5EF4-FFF2-40B4-BE49-F238E27FC236}">
                    <a16:creationId xmlns:a16="http://schemas.microsoft.com/office/drawing/2014/main" id="{3A08DF46-2EA4-D990-6A16-79868239661F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67">
              <a:extLst>
                <a:ext uri="{FF2B5EF4-FFF2-40B4-BE49-F238E27FC236}">
                  <a16:creationId xmlns:a16="http://schemas.microsoft.com/office/drawing/2014/main" id="{C1C74CF4-BA22-8B79-5EDA-7BC2ECA7E935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>
                <a:extLst>
                  <a:ext uri="{FF2B5EF4-FFF2-40B4-BE49-F238E27FC236}">
                    <a16:creationId xmlns:a16="http://schemas.microsoft.com/office/drawing/2014/main" id="{4FCA1D57-C01B-4F6B-42BB-8C9003DBCE65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7">
                <a:extLst>
                  <a:ext uri="{FF2B5EF4-FFF2-40B4-BE49-F238E27FC236}">
                    <a16:creationId xmlns:a16="http://schemas.microsoft.com/office/drawing/2014/main" id="{45AC24B1-75A2-3106-50F8-AB5764104E43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7">
                <a:extLst>
                  <a:ext uri="{FF2B5EF4-FFF2-40B4-BE49-F238E27FC236}">
                    <a16:creationId xmlns:a16="http://schemas.microsoft.com/office/drawing/2014/main" id="{260FEDEB-4F53-40F5-197B-CC348F205104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6" name="Google Shape;746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062B95-1F39-8F45-20CD-6E30ABEE4E7C}"/>
              </a:ext>
            </a:extLst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7">
            <a:hlinkClick r:id="rId4" action="ppaction://hlinksldjump"/>
            <a:extLst>
              <a:ext uri="{FF2B5EF4-FFF2-40B4-BE49-F238E27FC236}">
                <a16:creationId xmlns:a16="http://schemas.microsoft.com/office/drawing/2014/main" id="{79E5C728-5085-648F-2712-C3C4939D18DD}"/>
              </a:ext>
            </a:extLst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F139D6E-4AAA-5BA3-5469-D52D1AF8EB7B}"/>
              </a:ext>
            </a:extLst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r:id="rId4" action="ppaction://hlinksldjump"/>
            <a:extLst>
              <a:ext uri="{FF2B5EF4-FFF2-40B4-BE49-F238E27FC236}">
                <a16:creationId xmlns:a16="http://schemas.microsoft.com/office/drawing/2014/main" id="{2EE9C939-9751-844B-7647-7CD5ABE0C8BC}"/>
              </a:ext>
            </a:extLst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7">
            <a:hlinkClick r:id="rId4" action="ppaction://hlinksldjump"/>
            <a:extLst>
              <a:ext uri="{FF2B5EF4-FFF2-40B4-BE49-F238E27FC236}">
                <a16:creationId xmlns:a16="http://schemas.microsoft.com/office/drawing/2014/main" id="{91C0858E-ABCB-24BA-AA23-153D821CC960}"/>
              </a:ext>
            </a:extLst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4F69C4-8697-F3D1-EACB-39ECAEE184E0}"/>
              </a:ext>
            </a:extLst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2" name="Google Shape;75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EBDFCD0-786D-270E-5778-277B0B505F5B}"/>
              </a:ext>
            </a:extLst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753" name="Google Shape;753;p67">
            <a:extLst>
              <a:ext uri="{FF2B5EF4-FFF2-40B4-BE49-F238E27FC236}">
                <a16:creationId xmlns:a16="http://schemas.microsoft.com/office/drawing/2014/main" id="{CD84F87C-AEB3-96E0-AA42-56D91D9612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>
            <a:extLst>
              <a:ext uri="{FF2B5EF4-FFF2-40B4-BE49-F238E27FC236}">
                <a16:creationId xmlns:a16="http://schemas.microsoft.com/office/drawing/2014/main" id="{E4CD51DE-53BA-D8B1-F92B-7A5D1B1CB39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784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>
          <a:extLst>
            <a:ext uri="{FF2B5EF4-FFF2-40B4-BE49-F238E27FC236}">
              <a16:creationId xmlns:a16="http://schemas.microsoft.com/office/drawing/2014/main" id="{6ABC8DFD-DEED-9B4F-D2A2-A58D22EE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74">
            <a:extLst>
              <a:ext uri="{FF2B5EF4-FFF2-40B4-BE49-F238E27FC236}">
                <a16:creationId xmlns:a16="http://schemas.microsoft.com/office/drawing/2014/main" id="{1CF45B06-CB5C-8CAD-8503-8A8BB0D866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4473003">
            <a:off x="-2057542" y="-130732"/>
            <a:ext cx="3431406" cy="2367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4">
            <a:extLst>
              <a:ext uri="{FF2B5EF4-FFF2-40B4-BE49-F238E27FC236}">
                <a16:creationId xmlns:a16="http://schemas.microsoft.com/office/drawing/2014/main" id="{449BD22A-7AFF-7E1D-75A8-DBFD544F38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6999120" y="3643905"/>
            <a:ext cx="3431410" cy="236739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4">
            <a:extLst>
              <a:ext uri="{FF2B5EF4-FFF2-40B4-BE49-F238E27FC236}">
                <a16:creationId xmlns:a16="http://schemas.microsoft.com/office/drawing/2014/main" id="{CFD96414-4687-9AF5-7080-FCCA7AD06BC4}"/>
              </a:ext>
            </a:extLst>
          </p:cNvPr>
          <p:cNvSpPr/>
          <p:nvPr/>
        </p:nvSpPr>
        <p:spPr>
          <a:xfrm rot="10800000">
            <a:off x="7513188" y="-3212207"/>
            <a:ext cx="4510200" cy="4510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74">
            <a:extLst>
              <a:ext uri="{FF2B5EF4-FFF2-40B4-BE49-F238E27FC236}">
                <a16:creationId xmlns:a16="http://schemas.microsoft.com/office/drawing/2014/main" id="{C62DA221-E640-8856-E0ED-3F19175C5D53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前端架構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34" name="Google Shape;934;p74">
            <a:extLst>
              <a:ext uri="{FF2B5EF4-FFF2-40B4-BE49-F238E27FC236}">
                <a16:creationId xmlns:a16="http://schemas.microsoft.com/office/drawing/2014/main" id="{AADC28AF-82E3-D380-DE6A-1DB88A059D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8416504">
            <a:off x="-314702" y="4366026"/>
            <a:ext cx="1302258" cy="89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4">
            <a:extLst>
              <a:ext uri="{FF2B5EF4-FFF2-40B4-BE49-F238E27FC236}">
                <a16:creationId xmlns:a16="http://schemas.microsoft.com/office/drawing/2014/main" id="{055F99BD-92F0-0B77-25EB-517F60B5BA3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45445">
            <a:off x="147321" y="962760"/>
            <a:ext cx="512555" cy="38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 descr="React Native - 維基百科，自由的百科全書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141" y="1925894"/>
            <a:ext cx="1517647" cy="135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3.js 資料選取d3-selection 與資料綁定Joining Data | 璇之又璇的網路世界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341" y="1917360"/>
            <a:ext cx="1823697" cy="13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手把手程式實作分享系列：Django SQLite資料庫設定集簡單操作| by Walter Chiu | Bandai的機器學習筆記| Medium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30" y="2050124"/>
            <a:ext cx="2568575" cy="121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3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>
          <a:extLst>
            <a:ext uri="{FF2B5EF4-FFF2-40B4-BE49-F238E27FC236}">
              <a16:creationId xmlns:a16="http://schemas.microsoft.com/office/drawing/2014/main" id="{6ABC8DFD-DEED-9B4F-D2A2-A58D22EE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74">
            <a:extLst>
              <a:ext uri="{FF2B5EF4-FFF2-40B4-BE49-F238E27FC236}">
                <a16:creationId xmlns:a16="http://schemas.microsoft.com/office/drawing/2014/main" id="{1CF45B06-CB5C-8CAD-8503-8A8BB0D866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4473003">
            <a:off x="-2057542" y="-130732"/>
            <a:ext cx="3431406" cy="2367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4">
            <a:extLst>
              <a:ext uri="{FF2B5EF4-FFF2-40B4-BE49-F238E27FC236}">
                <a16:creationId xmlns:a16="http://schemas.microsoft.com/office/drawing/2014/main" id="{449BD22A-7AFF-7E1D-75A8-DBFD544F38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6999120" y="3643905"/>
            <a:ext cx="3431410" cy="236739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4">
            <a:extLst>
              <a:ext uri="{FF2B5EF4-FFF2-40B4-BE49-F238E27FC236}">
                <a16:creationId xmlns:a16="http://schemas.microsoft.com/office/drawing/2014/main" id="{CFD96414-4687-9AF5-7080-FCCA7AD06BC4}"/>
              </a:ext>
            </a:extLst>
          </p:cNvPr>
          <p:cNvSpPr/>
          <p:nvPr/>
        </p:nvSpPr>
        <p:spPr>
          <a:xfrm rot="10800000">
            <a:off x="7513188" y="-3212207"/>
            <a:ext cx="4510200" cy="4510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74">
            <a:extLst>
              <a:ext uri="{FF2B5EF4-FFF2-40B4-BE49-F238E27FC236}">
                <a16:creationId xmlns:a16="http://schemas.microsoft.com/office/drawing/2014/main" id="{C62DA221-E640-8856-E0ED-3F19175C5D53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前端架構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34" name="Google Shape;934;p74">
            <a:extLst>
              <a:ext uri="{FF2B5EF4-FFF2-40B4-BE49-F238E27FC236}">
                <a16:creationId xmlns:a16="http://schemas.microsoft.com/office/drawing/2014/main" id="{AADC28AF-82E3-D380-DE6A-1DB88A059D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8416504">
            <a:off x="-314702" y="4366026"/>
            <a:ext cx="1302258" cy="89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4">
            <a:extLst>
              <a:ext uri="{FF2B5EF4-FFF2-40B4-BE49-F238E27FC236}">
                <a16:creationId xmlns:a16="http://schemas.microsoft.com/office/drawing/2014/main" id="{055F99BD-92F0-0B77-25EB-517F60B5BA3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45445">
            <a:off x="147321" y="962760"/>
            <a:ext cx="512555" cy="38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 descr="已上傳的圖像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46" y="158859"/>
            <a:ext cx="8268425" cy="483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0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C6E0052-B4DE-0729-6ACA-8E9A6985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72">
            <a:extLst>
              <a:ext uri="{FF2B5EF4-FFF2-40B4-BE49-F238E27FC236}">
                <a16:creationId xmlns:a16="http://schemas.microsoft.com/office/drawing/2014/main" id="{DB7A38AC-B75E-B3F8-7C3A-8CA7067192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9333501">
            <a:off x="7264209" y="-954035"/>
            <a:ext cx="3431409" cy="23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2">
            <a:extLst>
              <a:ext uri="{FF2B5EF4-FFF2-40B4-BE49-F238E27FC236}">
                <a16:creationId xmlns:a16="http://schemas.microsoft.com/office/drawing/2014/main" id="{06C8F028-62AF-A74C-5E93-FD3EAFD55D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7262645" y="3420292"/>
            <a:ext cx="3431410" cy="236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>
            <a:extLst>
              <a:ext uri="{FF2B5EF4-FFF2-40B4-BE49-F238E27FC236}">
                <a16:creationId xmlns:a16="http://schemas.microsoft.com/office/drawing/2014/main" id="{71FD1F48-4A79-9CB9-A236-A5A4C4AEFC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6259102">
            <a:off x="-3286999" y="1736870"/>
            <a:ext cx="5744551" cy="3963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2">
            <a:extLst>
              <a:ext uri="{FF2B5EF4-FFF2-40B4-BE49-F238E27FC236}">
                <a16:creationId xmlns:a16="http://schemas.microsoft.com/office/drawing/2014/main" id="{94799924-6B05-AF36-EA59-1ED9A2C59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25" y="6794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主儀表板設計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242" name="Picture 2" descr="已上傳的圖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42" y="640644"/>
            <a:ext cx="6872565" cy="422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00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A5DDAAC3-597C-D175-3779-12D12F5F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0">
            <a:extLst>
              <a:ext uri="{FF2B5EF4-FFF2-40B4-BE49-F238E27FC236}">
                <a16:creationId xmlns:a16="http://schemas.microsoft.com/office/drawing/2014/main" id="{F1B591BA-08FA-39B7-7DF1-8BD4498AD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UASTL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時間序列分解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42084BE-1AFF-60DB-7E6F-9A8453FBD23E}"/>
                  </a:ext>
                </a:extLst>
              </p:cNvPr>
              <p:cNvSpPr txBox="1"/>
              <p:nvPr/>
            </p:nvSpPr>
            <p:spPr>
              <a:xfrm>
                <a:off x="1378974" y="1017725"/>
                <a:ext cx="6930725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組成</a:t>
                </a:r>
                <a:r>
                  <a:rPr lang="en-US" altLang="zh-TW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-</a:t>
                </a:r>
                <a:endParaRPr lang="en-US" altLang="zh-TW" sz="2800" i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l-G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𝜇</m:t>
                    </m:r>
                    <m:r>
                      <a:rPr lang="el-G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 ∈ 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𝑅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^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𝑛</m:t>
                    </m:r>
                  </m:oMath>
                </a14:m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 </a:t>
                </a:r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均值向量 </a:t>
                </a:r>
                <a:r>
                  <a:rPr lang="en-US" altLang="zh-TW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(mean vector)</a:t>
                </a:r>
              </a:p>
              <a:p>
                <a:endPara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𝛴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 ∈ 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𝑅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^(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𝑛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 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𝑥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 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𝑛</m:t>
                    </m:r>
                    <m:r>
                      <a:rPr lang="pt-BR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)</m:t>
                    </m:r>
                  </m:oMath>
                </a14:m>
                <a:r>
                  <a:rPr lang="en-US" altLang="zh-TW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:</a:t>
                </a:r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協方差矩陣 </a:t>
                </a:r>
                <a:r>
                  <a:rPr lang="en-US" altLang="zh-TW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(covariance matrix)</a:t>
                </a:r>
              </a:p>
              <a:p>
                <a:endPara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季節性平滑跨度</a:t>
                </a:r>
                <a:endPara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外循環迭代次數</a:t>
                </a:r>
                <a:endPara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內循環迭代次數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42084BE-1AFF-60DB-7E6F-9A8453FBD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974" y="1017725"/>
                <a:ext cx="6930725" cy="3970318"/>
              </a:xfrm>
              <a:prstGeom prst="rect">
                <a:avLst/>
              </a:prstGeom>
              <a:blipFill>
                <a:blip r:embed="rId3"/>
                <a:stretch>
                  <a:fillRect l="-1759" t="-1536" b="-3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33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38BDFF45-E778-C13C-8F4F-903F9E38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0A8F60A-69D1-73D7-4E47-0A000ED4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89" y="0"/>
            <a:ext cx="88754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1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E05002B9-61D4-6BC9-4FAA-9C4E0D55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67">
            <a:extLst>
              <a:ext uri="{FF2B5EF4-FFF2-40B4-BE49-F238E27FC236}">
                <a16:creationId xmlns:a16="http://schemas.microsoft.com/office/drawing/2014/main" id="{16F085E9-DD8B-BE96-C014-65B51762C4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425" t="17031" r="28566" b="17313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>
            <a:extLst>
              <a:ext uri="{FF2B5EF4-FFF2-40B4-BE49-F238E27FC236}">
                <a16:creationId xmlns:a16="http://schemas.microsoft.com/office/drawing/2014/main" id="{BB2A4119-3A69-36AA-5740-DF0FA4A10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239" y="1539214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互動 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Demo &amp; </a:t>
            </a:r>
            <a:b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案例洞見</a:t>
            </a:r>
            <a:br>
              <a:rPr lang="zh-TW" altLang="en-US" b="1" dirty="0">
                <a:solidFill>
                  <a:schemeClr val="accent1"/>
                </a:solidFill>
                <a:uFill>
                  <a:noFill/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6" name="Google Shape;736;p67">
            <a:extLst>
              <a:ext uri="{FF2B5EF4-FFF2-40B4-BE49-F238E27FC236}">
                <a16:creationId xmlns:a16="http://schemas.microsoft.com/office/drawing/2014/main" id="{354F0F53-0FFA-9B3E-3A5E-D4B76E2A71E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O4</a:t>
            </a:r>
            <a:endParaRPr dirty="0"/>
          </a:p>
        </p:txBody>
      </p:sp>
      <p:grpSp>
        <p:nvGrpSpPr>
          <p:cNvPr id="737" name="Google Shape;737;p67">
            <a:extLst>
              <a:ext uri="{FF2B5EF4-FFF2-40B4-BE49-F238E27FC236}">
                <a16:creationId xmlns:a16="http://schemas.microsoft.com/office/drawing/2014/main" id="{07123C4B-499E-F86A-A8E9-2EEF5E9AFD4D}"/>
              </a:ext>
            </a:extLst>
          </p:cNvPr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>
              <a:extLst>
                <a:ext uri="{FF2B5EF4-FFF2-40B4-BE49-F238E27FC236}">
                  <a16:creationId xmlns:a16="http://schemas.microsoft.com/office/drawing/2014/main" id="{5F46E340-9D47-6838-C79C-1A52E5CFE48E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>
                <a:extLst>
                  <a:ext uri="{FF2B5EF4-FFF2-40B4-BE49-F238E27FC236}">
                    <a16:creationId xmlns:a16="http://schemas.microsoft.com/office/drawing/2014/main" id="{E2A4021B-97F9-0CCF-41D2-ABB5748E187B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7">
                <a:extLst>
                  <a:ext uri="{FF2B5EF4-FFF2-40B4-BE49-F238E27FC236}">
                    <a16:creationId xmlns:a16="http://schemas.microsoft.com/office/drawing/2014/main" id="{A89EAE87-3B6B-DA3D-7B42-81E0B19E700E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7">
                <a:extLst>
                  <a:ext uri="{FF2B5EF4-FFF2-40B4-BE49-F238E27FC236}">
                    <a16:creationId xmlns:a16="http://schemas.microsoft.com/office/drawing/2014/main" id="{7A147CF4-015B-56E1-F2D4-1BC72F194B37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67">
              <a:extLst>
                <a:ext uri="{FF2B5EF4-FFF2-40B4-BE49-F238E27FC236}">
                  <a16:creationId xmlns:a16="http://schemas.microsoft.com/office/drawing/2014/main" id="{C88BE3CC-7C9D-78F2-032F-C1FB04D51993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>
                <a:extLst>
                  <a:ext uri="{FF2B5EF4-FFF2-40B4-BE49-F238E27FC236}">
                    <a16:creationId xmlns:a16="http://schemas.microsoft.com/office/drawing/2014/main" id="{AB48150D-A97B-26A6-8DB6-6194A7D7F3AC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7">
                <a:extLst>
                  <a:ext uri="{FF2B5EF4-FFF2-40B4-BE49-F238E27FC236}">
                    <a16:creationId xmlns:a16="http://schemas.microsoft.com/office/drawing/2014/main" id="{0502977D-B4FA-CBB0-37D7-833C7EEC3DEA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7">
                <a:extLst>
                  <a:ext uri="{FF2B5EF4-FFF2-40B4-BE49-F238E27FC236}">
                    <a16:creationId xmlns:a16="http://schemas.microsoft.com/office/drawing/2014/main" id="{45F80BB0-0CFE-81C1-9283-FDCE1EA3DF9E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6" name="Google Shape;746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45E30E7-F33C-A795-8FC9-FC718189C5CF}"/>
              </a:ext>
            </a:extLst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7">
            <a:hlinkClick r:id="rId4" action="ppaction://hlinksldjump"/>
            <a:extLst>
              <a:ext uri="{FF2B5EF4-FFF2-40B4-BE49-F238E27FC236}">
                <a16:creationId xmlns:a16="http://schemas.microsoft.com/office/drawing/2014/main" id="{C8B64A05-626A-353E-4C5F-8F7F50906D0D}"/>
              </a:ext>
            </a:extLst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77F8540-D26A-30A9-0278-E8FCBE028AD4}"/>
              </a:ext>
            </a:extLst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r:id="rId4" action="ppaction://hlinksldjump"/>
            <a:extLst>
              <a:ext uri="{FF2B5EF4-FFF2-40B4-BE49-F238E27FC236}">
                <a16:creationId xmlns:a16="http://schemas.microsoft.com/office/drawing/2014/main" id="{B1039833-C01F-327F-F786-8F621193631D}"/>
              </a:ext>
            </a:extLst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7">
            <a:hlinkClick r:id="rId4" action="ppaction://hlinksldjump"/>
            <a:extLst>
              <a:ext uri="{FF2B5EF4-FFF2-40B4-BE49-F238E27FC236}">
                <a16:creationId xmlns:a16="http://schemas.microsoft.com/office/drawing/2014/main" id="{D05FA61C-D9A6-D948-B192-9230F8AD4234}"/>
              </a:ext>
            </a:extLst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F621327-A3E0-C56F-1F12-63B3122349F4}"/>
              </a:ext>
            </a:extLst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2" name="Google Shape;75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A982017-07F1-1BBA-D3A5-33F7535B9716}"/>
              </a:ext>
            </a:extLst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753" name="Google Shape;753;p67">
            <a:extLst>
              <a:ext uri="{FF2B5EF4-FFF2-40B4-BE49-F238E27FC236}">
                <a16:creationId xmlns:a16="http://schemas.microsoft.com/office/drawing/2014/main" id="{34DAE817-28D3-C1C2-5450-24E2836B84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>
            <a:extLst>
              <a:ext uri="{FF2B5EF4-FFF2-40B4-BE49-F238E27FC236}">
                <a16:creationId xmlns:a16="http://schemas.microsoft.com/office/drawing/2014/main" id="{5DACE1E8-10FA-4D35-7BE4-40674D2B0B8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801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9"/>
          <p:cNvSpPr/>
          <p:nvPr/>
        </p:nvSpPr>
        <p:spPr>
          <a:xfrm>
            <a:off x="2388180" y="2236161"/>
            <a:ext cx="3957629" cy="111453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altLang="zh-TW" b="0" i="0" dirty="0">
                <a:ln>
                  <a:noFill/>
                </a:ln>
                <a:gradFill>
                  <a:gsLst>
                    <a:gs pos="0">
                      <a:srgbClr val="8DF1FF"/>
                    </a:gs>
                    <a:gs pos="30000">
                      <a:srgbClr val="F2CEFF"/>
                    </a:gs>
                    <a:gs pos="100000">
                      <a:srgbClr val="0445FF"/>
                    </a:gs>
                  </a:gsLst>
                  <a:lin ang="8099331" scaled="0"/>
                </a:gradFill>
                <a:latin typeface="Orbitron;900"/>
              </a:rPr>
              <a:t>Demo</a:t>
            </a:r>
            <a:endParaRPr b="0" i="0" dirty="0">
              <a:ln>
                <a:noFill/>
              </a:ln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099331" scaled="0"/>
              </a:gradFill>
              <a:latin typeface="Orbitron;900"/>
            </a:endParaRPr>
          </a:p>
        </p:txBody>
      </p:sp>
      <p:sp>
        <p:nvSpPr>
          <p:cNvPr id="1032" name="Google Shape;1032;p79"/>
          <p:cNvSpPr txBox="1">
            <a:spLocks noGrp="1"/>
          </p:cNvSpPr>
          <p:nvPr>
            <p:ph type="title"/>
          </p:nvPr>
        </p:nvSpPr>
        <p:spPr>
          <a:xfrm>
            <a:off x="1863289" y="1302880"/>
            <a:ext cx="5007409" cy="30940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dk2"/>
                </a:solidFill>
              </a:rPr>
              <a:t>DEMO</a:t>
            </a:r>
            <a:endParaRPr sz="9600" dirty="0">
              <a:solidFill>
                <a:schemeClr val="dk2"/>
              </a:solidFill>
            </a:endParaRPr>
          </a:p>
        </p:txBody>
      </p:sp>
      <p:sp>
        <p:nvSpPr>
          <p:cNvPr id="1033" name="Google Shape;1033;p79">
            <a:hlinkClick r:id="" action="ppaction://hlinkshowjump?jump=nextslide"/>
          </p:cNvPr>
          <p:cNvSpPr/>
          <p:nvPr/>
        </p:nvSpPr>
        <p:spPr>
          <a:xfrm>
            <a:off x="271492" y="210017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79">
            <a:hlinkClick r:id="rId3" action="ppaction://hlinksldjump"/>
          </p:cNvPr>
          <p:cNvSpPr/>
          <p:nvPr/>
        </p:nvSpPr>
        <p:spPr>
          <a:xfrm>
            <a:off x="271492" y="235007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79"/>
          <p:cNvSpPr/>
          <p:nvPr/>
        </p:nvSpPr>
        <p:spPr>
          <a:xfrm>
            <a:off x="271492" y="259998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036" name="Google Shape;1036;p79">
            <a:hlinkClick r:id="rId3" action="ppaction://hlinksldjump"/>
          </p:cNvPr>
          <p:cNvSpPr/>
          <p:nvPr/>
        </p:nvSpPr>
        <p:spPr>
          <a:xfrm>
            <a:off x="312597" y="238631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79">
            <a:hlinkClick r:id="rId3" action="ppaction://hlinksldjump"/>
          </p:cNvPr>
          <p:cNvSpPr/>
          <p:nvPr/>
        </p:nvSpPr>
        <p:spPr>
          <a:xfrm>
            <a:off x="337227" y="242729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8" name="Google Shape;1038;p79">
            <a:hlinkClick r:id="" action="ppaction://hlinkshowjump?jump=nextslide"/>
          </p:cNvPr>
          <p:cNvCxnSpPr/>
          <p:nvPr/>
        </p:nvCxnSpPr>
        <p:spPr>
          <a:xfrm>
            <a:off x="317292" y="219690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039" name="Google Shape;1039;p79">
            <a:hlinkClick r:id="" action="ppaction://hlinkshowjump?jump=previousslide"/>
          </p:cNvPr>
          <p:cNvSpPr/>
          <p:nvPr/>
        </p:nvSpPr>
        <p:spPr>
          <a:xfrm>
            <a:off x="271492" y="2849890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0" name="Google Shape;1040;p79">
            <a:hlinkClick r:id="" action="ppaction://hlinkshowjump?jump=previousslide"/>
          </p:cNvPr>
          <p:cNvCxnSpPr/>
          <p:nvPr/>
        </p:nvCxnSpPr>
        <p:spPr>
          <a:xfrm>
            <a:off x="317292" y="2946613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57139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4CFC1522-29D4-94FB-F6F7-072EB355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67">
            <a:extLst>
              <a:ext uri="{FF2B5EF4-FFF2-40B4-BE49-F238E27FC236}">
                <a16:creationId xmlns:a16="http://schemas.microsoft.com/office/drawing/2014/main" id="{6AF0DEBB-AFD5-540B-A09C-20908AE3E2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425" t="17031" r="28566" b="17313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>
            <a:extLst>
              <a:ext uri="{FF2B5EF4-FFF2-40B4-BE49-F238E27FC236}">
                <a16:creationId xmlns:a16="http://schemas.microsoft.com/office/drawing/2014/main" id="{26DDFAE7-4CB4-4F3D-9034-CA22AF280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239" y="1539214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成效評估 </a:t>
            </a:r>
            <a:b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&amp;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未來擴展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6" name="Google Shape;736;p67">
            <a:extLst>
              <a:ext uri="{FF2B5EF4-FFF2-40B4-BE49-F238E27FC236}">
                <a16:creationId xmlns:a16="http://schemas.microsoft.com/office/drawing/2014/main" id="{2B9AA146-E700-BC87-2AB7-BBA12753BF4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O5</a:t>
            </a:r>
            <a:endParaRPr dirty="0"/>
          </a:p>
        </p:txBody>
      </p:sp>
      <p:grpSp>
        <p:nvGrpSpPr>
          <p:cNvPr id="737" name="Google Shape;737;p67">
            <a:extLst>
              <a:ext uri="{FF2B5EF4-FFF2-40B4-BE49-F238E27FC236}">
                <a16:creationId xmlns:a16="http://schemas.microsoft.com/office/drawing/2014/main" id="{51442635-E928-C6FE-610B-F194C54BCAD7}"/>
              </a:ext>
            </a:extLst>
          </p:cNvPr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>
              <a:extLst>
                <a:ext uri="{FF2B5EF4-FFF2-40B4-BE49-F238E27FC236}">
                  <a16:creationId xmlns:a16="http://schemas.microsoft.com/office/drawing/2014/main" id="{3A879D19-15F7-15C0-D9BB-C1A39C90E40B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>
                <a:extLst>
                  <a:ext uri="{FF2B5EF4-FFF2-40B4-BE49-F238E27FC236}">
                    <a16:creationId xmlns:a16="http://schemas.microsoft.com/office/drawing/2014/main" id="{16012DBF-257C-9831-4F08-2D954FBF7783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7">
                <a:extLst>
                  <a:ext uri="{FF2B5EF4-FFF2-40B4-BE49-F238E27FC236}">
                    <a16:creationId xmlns:a16="http://schemas.microsoft.com/office/drawing/2014/main" id="{8D35C159-3C04-53E0-D3FD-53E18698D9CE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7">
                <a:extLst>
                  <a:ext uri="{FF2B5EF4-FFF2-40B4-BE49-F238E27FC236}">
                    <a16:creationId xmlns:a16="http://schemas.microsoft.com/office/drawing/2014/main" id="{48AE63C0-54E6-BCD3-1356-A4B8C03122F0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67">
              <a:extLst>
                <a:ext uri="{FF2B5EF4-FFF2-40B4-BE49-F238E27FC236}">
                  <a16:creationId xmlns:a16="http://schemas.microsoft.com/office/drawing/2014/main" id="{3B9D9396-F91E-96DB-E73E-D43A529EA316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>
                <a:extLst>
                  <a:ext uri="{FF2B5EF4-FFF2-40B4-BE49-F238E27FC236}">
                    <a16:creationId xmlns:a16="http://schemas.microsoft.com/office/drawing/2014/main" id="{9D78BDB3-A5CF-43D6-13C6-C240E7012B2C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7">
                <a:extLst>
                  <a:ext uri="{FF2B5EF4-FFF2-40B4-BE49-F238E27FC236}">
                    <a16:creationId xmlns:a16="http://schemas.microsoft.com/office/drawing/2014/main" id="{688C58CA-A732-02F6-33D1-FE7645798D24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7">
                <a:extLst>
                  <a:ext uri="{FF2B5EF4-FFF2-40B4-BE49-F238E27FC236}">
                    <a16:creationId xmlns:a16="http://schemas.microsoft.com/office/drawing/2014/main" id="{047144D0-CC5C-B3FA-3B48-CC69FBC99552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6" name="Google Shape;746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DAB404E-5040-5683-E72C-C09AB49094CF}"/>
              </a:ext>
            </a:extLst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7">
            <a:hlinkClick r:id="rId4" action="ppaction://hlinksldjump"/>
            <a:extLst>
              <a:ext uri="{FF2B5EF4-FFF2-40B4-BE49-F238E27FC236}">
                <a16:creationId xmlns:a16="http://schemas.microsoft.com/office/drawing/2014/main" id="{5D1BFAC3-8091-791F-CB24-213B287B4D80}"/>
              </a:ext>
            </a:extLst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66176F6-D89F-1485-8EF1-3323B6890C4A}"/>
              </a:ext>
            </a:extLst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r:id="rId4" action="ppaction://hlinksldjump"/>
            <a:extLst>
              <a:ext uri="{FF2B5EF4-FFF2-40B4-BE49-F238E27FC236}">
                <a16:creationId xmlns:a16="http://schemas.microsoft.com/office/drawing/2014/main" id="{C32BABA6-A674-CFCF-B32C-2B94A4C8E316}"/>
              </a:ext>
            </a:extLst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7">
            <a:hlinkClick r:id="rId4" action="ppaction://hlinksldjump"/>
            <a:extLst>
              <a:ext uri="{FF2B5EF4-FFF2-40B4-BE49-F238E27FC236}">
                <a16:creationId xmlns:a16="http://schemas.microsoft.com/office/drawing/2014/main" id="{60B5C459-154C-5C54-5F62-4285013B7A57}"/>
              </a:ext>
            </a:extLst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82B2E5B-EC43-A974-DED1-9CA753D45A80}"/>
              </a:ext>
            </a:extLst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2" name="Google Shape;75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2723DA5-7735-3880-F332-014892C9897F}"/>
              </a:ext>
            </a:extLst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753" name="Google Shape;753;p67">
            <a:extLst>
              <a:ext uri="{FF2B5EF4-FFF2-40B4-BE49-F238E27FC236}">
                <a16:creationId xmlns:a16="http://schemas.microsoft.com/office/drawing/2014/main" id="{4EBEC750-5FB8-E419-EACD-3B69DD53BF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>
            <a:extLst>
              <a:ext uri="{FF2B5EF4-FFF2-40B4-BE49-F238E27FC236}">
                <a16:creationId xmlns:a16="http://schemas.microsoft.com/office/drawing/2014/main" id="{C9FD3BA3-38E0-82F0-7FD9-73D0AD33E9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26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>
          <a:extLst>
            <a:ext uri="{FF2B5EF4-FFF2-40B4-BE49-F238E27FC236}">
              <a16:creationId xmlns:a16="http://schemas.microsoft.com/office/drawing/2014/main" id="{9ED8CA6A-C3BA-4A08-7D20-7B236DC6D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74">
            <a:extLst>
              <a:ext uri="{FF2B5EF4-FFF2-40B4-BE49-F238E27FC236}">
                <a16:creationId xmlns:a16="http://schemas.microsoft.com/office/drawing/2014/main" id="{F7E7D549-F8D4-546B-5DA8-F8EF5B49CF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4473003">
            <a:off x="-2057542" y="-130732"/>
            <a:ext cx="3431406" cy="2367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4">
            <a:extLst>
              <a:ext uri="{FF2B5EF4-FFF2-40B4-BE49-F238E27FC236}">
                <a16:creationId xmlns:a16="http://schemas.microsoft.com/office/drawing/2014/main" id="{7033918E-E2CD-21D7-98CF-FA9D0FA508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35">
            <a:off x="6999120" y="3643905"/>
            <a:ext cx="3431410" cy="236739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4">
            <a:extLst>
              <a:ext uri="{FF2B5EF4-FFF2-40B4-BE49-F238E27FC236}">
                <a16:creationId xmlns:a16="http://schemas.microsoft.com/office/drawing/2014/main" id="{F43E2393-C1F9-E317-54E6-E57495810CE1}"/>
              </a:ext>
            </a:extLst>
          </p:cNvPr>
          <p:cNvSpPr/>
          <p:nvPr/>
        </p:nvSpPr>
        <p:spPr>
          <a:xfrm rot="10800000">
            <a:off x="7513188" y="-3212207"/>
            <a:ext cx="4510200" cy="45102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74">
            <a:extLst>
              <a:ext uri="{FF2B5EF4-FFF2-40B4-BE49-F238E27FC236}">
                <a16:creationId xmlns:a16="http://schemas.microsoft.com/office/drawing/2014/main" id="{F61E02F2-AB96-63B1-47A2-EF6B14F2115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成效</a:t>
            </a:r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評估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34" name="Google Shape;934;p74">
            <a:extLst>
              <a:ext uri="{FF2B5EF4-FFF2-40B4-BE49-F238E27FC236}">
                <a16:creationId xmlns:a16="http://schemas.microsoft.com/office/drawing/2014/main" id="{7B23561A-DE42-C177-0E82-97A21B757D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8416504">
            <a:off x="-314702" y="4366026"/>
            <a:ext cx="1302258" cy="89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4">
            <a:extLst>
              <a:ext uri="{FF2B5EF4-FFF2-40B4-BE49-F238E27FC236}">
                <a16:creationId xmlns:a16="http://schemas.microsoft.com/office/drawing/2014/main" id="{F38162F4-F48C-3882-7B43-4E1819772E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45445">
            <a:off x="147321" y="962760"/>
            <a:ext cx="512555" cy="3884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6E5D84D-1885-D6E8-0680-EECBE96064F1}"/>
              </a:ext>
            </a:extLst>
          </p:cNvPr>
          <p:cNvSpPr txBox="1"/>
          <p:nvPr/>
        </p:nvSpPr>
        <p:spPr>
          <a:xfrm>
            <a:off x="557570" y="2638917"/>
            <a:ext cx="8700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Lead-Lag：情緒指標領先價格 4–6 h (max 12 h)</a:t>
            </a:r>
          </a:p>
        </p:txBody>
      </p:sp>
    </p:spTree>
    <p:extLst>
      <p:ext uri="{BB962C8B-B14F-4D97-AF65-F5344CB8AC3E}">
        <p14:creationId xmlns:p14="http://schemas.microsoft.com/office/powerpoint/2010/main" val="285136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B128EC6C-D6B0-715B-FA56-E245BF1C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67">
            <a:extLst>
              <a:ext uri="{FF2B5EF4-FFF2-40B4-BE49-F238E27FC236}">
                <a16:creationId xmlns:a16="http://schemas.microsoft.com/office/drawing/2014/main" id="{4047D82A-E917-80DE-A27F-D6A97EE52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425" t="17031" r="28566" b="17313"/>
          <a:stretch/>
        </p:blipFill>
        <p:spPr>
          <a:xfrm>
            <a:off x="4905600" y="-63471"/>
            <a:ext cx="4238397" cy="52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7">
            <a:extLst>
              <a:ext uri="{FF2B5EF4-FFF2-40B4-BE49-F238E27FC236}">
                <a16:creationId xmlns:a16="http://schemas.microsoft.com/office/drawing/2014/main" id="{580EDC24-F68F-5D41-AB6D-C408A7327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239" y="1539214"/>
            <a:ext cx="37116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總結</a:t>
            </a:r>
            <a:br>
              <a:rPr 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Q&amp;A</a:t>
            </a:r>
            <a:endParaRPr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6" name="Google Shape;736;p67">
            <a:extLst>
              <a:ext uri="{FF2B5EF4-FFF2-40B4-BE49-F238E27FC236}">
                <a16:creationId xmlns:a16="http://schemas.microsoft.com/office/drawing/2014/main" id="{BD19B387-2E09-D7AC-15B8-8C399DE1A0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3684525"/>
            <a:ext cx="15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O6</a:t>
            </a:r>
            <a:endParaRPr dirty="0"/>
          </a:p>
        </p:txBody>
      </p:sp>
      <p:grpSp>
        <p:nvGrpSpPr>
          <p:cNvPr id="737" name="Google Shape;737;p67">
            <a:extLst>
              <a:ext uri="{FF2B5EF4-FFF2-40B4-BE49-F238E27FC236}">
                <a16:creationId xmlns:a16="http://schemas.microsoft.com/office/drawing/2014/main" id="{EECC943F-BEE3-098D-29D1-5479BE22798B}"/>
              </a:ext>
            </a:extLst>
          </p:cNvPr>
          <p:cNvGrpSpPr/>
          <p:nvPr/>
        </p:nvGrpSpPr>
        <p:grpSpPr>
          <a:xfrm>
            <a:off x="604274" y="3899608"/>
            <a:ext cx="43276" cy="411646"/>
            <a:chOff x="1256711" y="1178908"/>
            <a:chExt cx="43276" cy="411646"/>
          </a:xfrm>
        </p:grpSpPr>
        <p:grpSp>
          <p:nvGrpSpPr>
            <p:cNvPr id="738" name="Google Shape;738;p67">
              <a:extLst>
                <a:ext uri="{FF2B5EF4-FFF2-40B4-BE49-F238E27FC236}">
                  <a16:creationId xmlns:a16="http://schemas.microsoft.com/office/drawing/2014/main" id="{09032C30-80A0-D76A-E1BE-691499B3F28B}"/>
                </a:ext>
              </a:extLst>
            </p:cNvPr>
            <p:cNvGrpSpPr/>
            <p:nvPr/>
          </p:nvGrpSpPr>
          <p:grpSpPr>
            <a:xfrm>
              <a:off x="1256711" y="1178908"/>
              <a:ext cx="43276" cy="184846"/>
              <a:chOff x="1256700" y="1103575"/>
              <a:chExt cx="60900" cy="260200"/>
            </a:xfrm>
          </p:grpSpPr>
          <p:sp>
            <p:nvSpPr>
              <p:cNvPr id="739" name="Google Shape;739;p67">
                <a:extLst>
                  <a:ext uri="{FF2B5EF4-FFF2-40B4-BE49-F238E27FC236}">
                    <a16:creationId xmlns:a16="http://schemas.microsoft.com/office/drawing/2014/main" id="{FD60218F-3B31-6D01-497E-494244EF43A6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67">
                <a:extLst>
                  <a:ext uri="{FF2B5EF4-FFF2-40B4-BE49-F238E27FC236}">
                    <a16:creationId xmlns:a16="http://schemas.microsoft.com/office/drawing/2014/main" id="{C1409DF9-0CF5-1D26-588A-0E3861FE095A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67">
                <a:extLst>
                  <a:ext uri="{FF2B5EF4-FFF2-40B4-BE49-F238E27FC236}">
                    <a16:creationId xmlns:a16="http://schemas.microsoft.com/office/drawing/2014/main" id="{B198A618-0CC5-5C14-DAC5-FF57B453E8A3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67">
              <a:extLst>
                <a:ext uri="{FF2B5EF4-FFF2-40B4-BE49-F238E27FC236}">
                  <a16:creationId xmlns:a16="http://schemas.microsoft.com/office/drawing/2014/main" id="{2E930899-72F1-B173-3221-99908C0B1D53}"/>
                </a:ext>
              </a:extLst>
            </p:cNvPr>
            <p:cNvGrpSpPr/>
            <p:nvPr/>
          </p:nvGrpSpPr>
          <p:grpSpPr>
            <a:xfrm>
              <a:off x="1256711" y="1405708"/>
              <a:ext cx="43276" cy="184846"/>
              <a:chOff x="1256700" y="1103575"/>
              <a:chExt cx="60900" cy="260200"/>
            </a:xfrm>
          </p:grpSpPr>
          <p:sp>
            <p:nvSpPr>
              <p:cNvPr id="743" name="Google Shape;743;p67">
                <a:extLst>
                  <a:ext uri="{FF2B5EF4-FFF2-40B4-BE49-F238E27FC236}">
                    <a16:creationId xmlns:a16="http://schemas.microsoft.com/office/drawing/2014/main" id="{8B474A7F-E383-03F9-A518-4F52331F4F5F}"/>
                  </a:ext>
                </a:extLst>
              </p:cNvPr>
              <p:cNvSpPr/>
              <p:nvPr/>
            </p:nvSpPr>
            <p:spPr>
              <a:xfrm>
                <a:off x="1256700" y="11035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67">
                <a:extLst>
                  <a:ext uri="{FF2B5EF4-FFF2-40B4-BE49-F238E27FC236}">
                    <a16:creationId xmlns:a16="http://schemas.microsoft.com/office/drawing/2014/main" id="{22BBB893-F161-8BD8-2075-23A788BE62AD}"/>
                  </a:ext>
                </a:extLst>
              </p:cNvPr>
              <p:cNvSpPr/>
              <p:nvPr/>
            </p:nvSpPr>
            <p:spPr>
              <a:xfrm>
                <a:off x="1256700" y="120322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67">
                <a:extLst>
                  <a:ext uri="{FF2B5EF4-FFF2-40B4-BE49-F238E27FC236}">
                    <a16:creationId xmlns:a16="http://schemas.microsoft.com/office/drawing/2014/main" id="{19D6499D-BA24-F4EE-3C5E-1F2559008029}"/>
                  </a:ext>
                </a:extLst>
              </p:cNvPr>
              <p:cNvSpPr/>
              <p:nvPr/>
            </p:nvSpPr>
            <p:spPr>
              <a:xfrm>
                <a:off x="1256700" y="1302875"/>
                <a:ext cx="60900" cy="60900"/>
              </a:xfrm>
              <a:prstGeom prst="ellipse">
                <a:avLst/>
              </a:prstGeom>
              <a:gradFill>
                <a:gsLst>
                  <a:gs pos="0">
                    <a:srgbClr val="8DF1FF"/>
                  </a:gs>
                  <a:gs pos="30000">
                    <a:srgbClr val="F2CEFF"/>
                  </a:gs>
                  <a:gs pos="100000">
                    <a:srgbClr val="0445FF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6" name="Google Shape;746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8843AA-A000-A57D-BB2E-0F6EB2E291BA}"/>
              </a:ext>
            </a:extLst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7">
            <a:hlinkClick r:id="rId4" action="ppaction://hlinksldjump"/>
            <a:extLst>
              <a:ext uri="{FF2B5EF4-FFF2-40B4-BE49-F238E27FC236}">
                <a16:creationId xmlns:a16="http://schemas.microsoft.com/office/drawing/2014/main" id="{7F595A05-15CB-5861-4F2A-D847C1A2D5E1}"/>
              </a:ext>
            </a:extLst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76A1C6F-3AEC-FFD7-CF97-1AA2CBE6E653}"/>
              </a:ext>
            </a:extLst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9" name="Google Shape;749;p67">
            <a:hlinkClick r:id="rId4" action="ppaction://hlinksldjump"/>
            <a:extLst>
              <a:ext uri="{FF2B5EF4-FFF2-40B4-BE49-F238E27FC236}">
                <a16:creationId xmlns:a16="http://schemas.microsoft.com/office/drawing/2014/main" id="{3C44FE43-4397-C4D1-D96F-BF627C7C259B}"/>
              </a:ext>
            </a:extLst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7">
            <a:hlinkClick r:id="rId4" action="ppaction://hlinksldjump"/>
            <a:extLst>
              <a:ext uri="{FF2B5EF4-FFF2-40B4-BE49-F238E27FC236}">
                <a16:creationId xmlns:a16="http://schemas.microsoft.com/office/drawing/2014/main" id="{1497131D-97BA-5354-B26D-5041539DA3D7}"/>
              </a:ext>
            </a:extLst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0BFD84B-AA08-B236-8966-43B77EDAD3A2}"/>
              </a:ext>
            </a:extLst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2" name="Google Shape;75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7F36DD9-907A-DAA0-423A-B644FE6C0E9B}"/>
              </a:ext>
            </a:extLst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753" name="Google Shape;753;p67">
            <a:extLst>
              <a:ext uri="{FF2B5EF4-FFF2-40B4-BE49-F238E27FC236}">
                <a16:creationId xmlns:a16="http://schemas.microsoft.com/office/drawing/2014/main" id="{A88559B3-587E-7C19-BD93-1EA7795123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-1200452" y="-746207"/>
            <a:ext cx="3055748" cy="210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7">
            <a:extLst>
              <a:ext uri="{FF2B5EF4-FFF2-40B4-BE49-F238E27FC236}">
                <a16:creationId xmlns:a16="http://schemas.microsoft.com/office/drawing/2014/main" id="{9587414E-4CBE-7C21-37ED-30B47027B2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0" r="4538" b="19768"/>
          <a:stretch/>
        </p:blipFill>
        <p:spPr>
          <a:xfrm rot="-2147249">
            <a:off x="1521898" y="4378968"/>
            <a:ext cx="3055748" cy="2108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578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>
          <a:extLst>
            <a:ext uri="{FF2B5EF4-FFF2-40B4-BE49-F238E27FC236}">
              <a16:creationId xmlns:a16="http://schemas.microsoft.com/office/drawing/2014/main" id="{A7BD48D0-8117-4F09-F54C-1DD57CE6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3" name="Google Shape;1203;p85">
            <a:extLst>
              <a:ext uri="{FF2B5EF4-FFF2-40B4-BE49-F238E27FC236}">
                <a16:creationId xmlns:a16="http://schemas.microsoft.com/office/drawing/2014/main" id="{FBE4377F-E23B-FE49-9228-9CD2982C68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502208">
            <a:off x="7413836" y="184545"/>
            <a:ext cx="3048323" cy="230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85">
            <a:extLst>
              <a:ext uri="{FF2B5EF4-FFF2-40B4-BE49-F238E27FC236}">
                <a16:creationId xmlns:a16="http://schemas.microsoft.com/office/drawing/2014/main" id="{BCEC617F-2E90-1A0C-5608-7DA832ECF1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340" r="4538" b="19768"/>
          <a:stretch/>
        </p:blipFill>
        <p:spPr>
          <a:xfrm rot="-2319082">
            <a:off x="-942465" y="-764591"/>
            <a:ext cx="2940004" cy="2028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85">
            <a:extLst>
              <a:ext uri="{FF2B5EF4-FFF2-40B4-BE49-F238E27FC236}">
                <a16:creationId xmlns:a16="http://schemas.microsoft.com/office/drawing/2014/main" id="{A1D08589-41DD-B091-98D1-5FC7FB0C4A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340" r="4538" b="19768"/>
          <a:stretch/>
        </p:blipFill>
        <p:spPr>
          <a:xfrm rot="-8999957">
            <a:off x="-756776" y="4367046"/>
            <a:ext cx="2940004" cy="20283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EE89440-422F-6EBD-667C-5206F24575BF}"/>
              </a:ext>
            </a:extLst>
          </p:cNvPr>
          <p:cNvSpPr txBox="1"/>
          <p:nvPr/>
        </p:nvSpPr>
        <p:spPr>
          <a:xfrm>
            <a:off x="1419532" y="2171335"/>
            <a:ext cx="73815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整合海量推文 → 互動儀表板 &amp; 領先指標</a:t>
            </a:r>
          </a:p>
          <a:p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驗證：模型 + 案例</a:t>
            </a:r>
          </a:p>
        </p:txBody>
      </p:sp>
    </p:spTree>
    <p:extLst>
      <p:ext uri="{BB962C8B-B14F-4D97-AF65-F5344CB8AC3E}">
        <p14:creationId xmlns:p14="http://schemas.microsoft.com/office/powerpoint/2010/main" val="185192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6">
          <a:extLst>
            <a:ext uri="{FF2B5EF4-FFF2-40B4-BE49-F238E27FC236}">
              <a16:creationId xmlns:a16="http://schemas.microsoft.com/office/drawing/2014/main" id="{024354D9-7D50-6873-DB7A-5955472B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11">
            <a:extLst>
              <a:ext uri="{FF2B5EF4-FFF2-40B4-BE49-F238E27FC236}">
                <a16:creationId xmlns:a16="http://schemas.microsoft.com/office/drawing/2014/main" id="{5734288D-9DFB-8BC4-9802-2C18271AAB70}"/>
              </a:ext>
            </a:extLst>
          </p:cNvPr>
          <p:cNvSpPr/>
          <p:nvPr/>
        </p:nvSpPr>
        <p:spPr>
          <a:xfrm>
            <a:off x="-1927134" y="-113707"/>
            <a:ext cx="4833000" cy="4833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13560000" algn="bl" rotWithShape="0">
              <a:srgbClr val="4877FF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8" name="Google Shape;2198;p111">
            <a:extLst>
              <a:ext uri="{FF2B5EF4-FFF2-40B4-BE49-F238E27FC236}">
                <a16:creationId xmlns:a16="http://schemas.microsoft.com/office/drawing/2014/main" id="{57D225BF-6FF7-2660-E806-D6C8214A9316}"/>
              </a:ext>
            </a:extLst>
          </p:cNvPr>
          <p:cNvSpPr/>
          <p:nvPr/>
        </p:nvSpPr>
        <p:spPr>
          <a:xfrm flipH="1">
            <a:off x="-99459" y="3532125"/>
            <a:ext cx="3711600" cy="3711600"/>
          </a:xfrm>
          <a:prstGeom prst="ellipse">
            <a:avLst/>
          </a:pr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100019" scaled="0"/>
          </a:gradFill>
          <a:ln>
            <a:noFill/>
          </a:ln>
          <a:effectLst>
            <a:outerShdw blurRad="57150" dist="19050" dir="5400000" algn="bl" rotWithShape="0">
              <a:schemeClr val="accent1">
                <a:alpha val="3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9" name="Google Shape;2199;p111">
            <a:extLst>
              <a:ext uri="{FF2B5EF4-FFF2-40B4-BE49-F238E27FC236}">
                <a16:creationId xmlns:a16="http://schemas.microsoft.com/office/drawing/2014/main" id="{34D62983-B5AE-398E-0AB1-A9BB0376DA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1985806" flipH="1">
            <a:off x="-1801456" y="-2474233"/>
            <a:ext cx="6884144" cy="474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111">
            <a:extLst>
              <a:ext uri="{FF2B5EF4-FFF2-40B4-BE49-F238E27FC236}">
                <a16:creationId xmlns:a16="http://schemas.microsoft.com/office/drawing/2014/main" id="{13F7188B-F19D-D788-1FE5-1488F6F106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8099993" flipH="1">
            <a:off x="8108244" y="-1306300"/>
            <a:ext cx="3498423" cy="24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1" name="Google Shape;2201;p111">
            <a:extLst>
              <a:ext uri="{FF2B5EF4-FFF2-40B4-BE49-F238E27FC236}">
                <a16:creationId xmlns:a16="http://schemas.microsoft.com/office/drawing/2014/main" id="{E1FAC742-DE84-FCAB-1B1C-1A2A4B8FA1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40" r="4538" b="19768"/>
          <a:stretch/>
        </p:blipFill>
        <p:spPr>
          <a:xfrm rot="-6719609" flipH="1">
            <a:off x="6096700" y="3273472"/>
            <a:ext cx="5546207" cy="382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1" name="Google Shape;2211;p111">
            <a:extLst>
              <a:ext uri="{FF2B5EF4-FFF2-40B4-BE49-F238E27FC236}">
                <a16:creationId xmlns:a16="http://schemas.microsoft.com/office/drawing/2014/main" id="{ABBEB43E-479F-29AB-89D4-FE44188FED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051198" flipH="1">
            <a:off x="8370387" y="1469130"/>
            <a:ext cx="709969" cy="53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2" name="Google Shape;2212;p111">
            <a:extLst>
              <a:ext uri="{FF2B5EF4-FFF2-40B4-BE49-F238E27FC236}">
                <a16:creationId xmlns:a16="http://schemas.microsoft.com/office/drawing/2014/main" id="{F0046B50-A5C5-4831-FB3C-E6FC20B825E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599953" flipH="1">
            <a:off x="790138" y="2555820"/>
            <a:ext cx="984379" cy="745965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111">
            <a:extLst>
              <a:ext uri="{FF2B5EF4-FFF2-40B4-BE49-F238E27FC236}">
                <a16:creationId xmlns:a16="http://schemas.microsoft.com/office/drawing/2014/main" id="{448B8F17-5D97-755E-ADC1-C7ED83CDD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6498" y="1846875"/>
            <a:ext cx="40605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  <a:endParaRPr dirty="0"/>
          </a:p>
        </p:txBody>
      </p:sp>
      <p:sp>
        <p:nvSpPr>
          <p:cNvPr id="2216" name="Google Shape;2216;p1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2838E09-5A05-7DBB-90A5-2922C046CEC2}"/>
              </a:ext>
            </a:extLst>
          </p:cNvPr>
          <p:cNvSpPr/>
          <p:nvPr/>
        </p:nvSpPr>
        <p:spPr>
          <a:xfrm>
            <a:off x="271492" y="222512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7" name="Google Shape;2217;p111">
            <a:hlinkClick r:id="rId5" action="ppaction://hlinksldjump"/>
            <a:extLst>
              <a:ext uri="{FF2B5EF4-FFF2-40B4-BE49-F238E27FC236}">
                <a16:creationId xmlns:a16="http://schemas.microsoft.com/office/drawing/2014/main" id="{1B97F0FD-1F2C-CEB2-955D-6492866ACFB9}"/>
              </a:ext>
            </a:extLst>
          </p:cNvPr>
          <p:cNvSpPr/>
          <p:nvPr/>
        </p:nvSpPr>
        <p:spPr>
          <a:xfrm>
            <a:off x="271492" y="2475029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8" name="Google Shape;2218;p11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1A12060-1E05-1129-86B4-B65DC421EA68}"/>
              </a:ext>
            </a:extLst>
          </p:cNvPr>
          <p:cNvSpPr/>
          <p:nvPr/>
        </p:nvSpPr>
        <p:spPr>
          <a:xfrm>
            <a:off x="271492" y="2724934"/>
            <a:ext cx="193611" cy="193446"/>
          </a:xfrm>
          <a:custGeom>
            <a:avLst/>
            <a:gdLst/>
            <a:ahLst/>
            <a:cxnLst/>
            <a:rect l="l" t="t" r="r" b="b"/>
            <a:pathLst>
              <a:path w="13613" h="13599" extrusionOk="0">
                <a:moveTo>
                  <a:pt x="6799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799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799" y="0"/>
                </a:cubicBezTo>
                <a:close/>
              </a:path>
            </a:pathLst>
          </a:custGeom>
          <a:gradFill>
            <a:gsLst>
              <a:gs pos="0">
                <a:srgbClr val="8DF1FF"/>
              </a:gs>
              <a:gs pos="30000">
                <a:srgbClr val="F2CEFF"/>
              </a:gs>
              <a:gs pos="100000">
                <a:srgbClr val="0445FF"/>
              </a:gs>
            </a:gsLst>
            <a:lin ang="80993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219" name="Google Shape;2219;p111">
            <a:hlinkClick r:id="rId5" action="ppaction://hlinksldjump"/>
            <a:extLst>
              <a:ext uri="{FF2B5EF4-FFF2-40B4-BE49-F238E27FC236}">
                <a16:creationId xmlns:a16="http://schemas.microsoft.com/office/drawing/2014/main" id="{E03AC05D-4D70-F1BC-1A57-F59DA2ADD32D}"/>
              </a:ext>
            </a:extLst>
          </p:cNvPr>
          <p:cNvSpPr/>
          <p:nvPr/>
        </p:nvSpPr>
        <p:spPr>
          <a:xfrm>
            <a:off x="312597" y="2511261"/>
            <a:ext cx="111412" cy="111267"/>
          </a:xfrm>
          <a:custGeom>
            <a:avLst/>
            <a:gdLst/>
            <a:ahLst/>
            <a:cxnLst/>
            <a:rect l="l" t="t" r="r" b="b"/>
            <a:pathLst>
              <a:path w="13840" h="13822" extrusionOk="0">
                <a:moveTo>
                  <a:pt x="6911" y="881"/>
                </a:moveTo>
                <a:lnTo>
                  <a:pt x="13030" y="3671"/>
                </a:lnTo>
                <a:lnTo>
                  <a:pt x="13030" y="4571"/>
                </a:lnTo>
                <a:lnTo>
                  <a:pt x="6911" y="1781"/>
                </a:lnTo>
                <a:lnTo>
                  <a:pt x="810" y="4571"/>
                </a:lnTo>
                <a:lnTo>
                  <a:pt x="810" y="3671"/>
                </a:lnTo>
                <a:lnTo>
                  <a:pt x="6911" y="881"/>
                </a:lnTo>
                <a:close/>
                <a:moveTo>
                  <a:pt x="6911" y="2664"/>
                </a:moveTo>
                <a:lnTo>
                  <a:pt x="13030" y="5452"/>
                </a:lnTo>
                <a:lnTo>
                  <a:pt x="13030" y="13011"/>
                </a:lnTo>
                <a:lnTo>
                  <a:pt x="810" y="13011"/>
                </a:lnTo>
                <a:lnTo>
                  <a:pt x="810" y="5452"/>
                </a:lnTo>
                <a:lnTo>
                  <a:pt x="6911" y="2664"/>
                </a:lnTo>
                <a:close/>
                <a:moveTo>
                  <a:pt x="6911" y="0"/>
                </a:moveTo>
                <a:lnTo>
                  <a:pt x="1" y="3149"/>
                </a:lnTo>
                <a:lnTo>
                  <a:pt x="1" y="13821"/>
                </a:lnTo>
                <a:lnTo>
                  <a:pt x="13839" y="13821"/>
                </a:lnTo>
                <a:lnTo>
                  <a:pt x="13839" y="3149"/>
                </a:lnTo>
                <a:lnTo>
                  <a:pt x="69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0" name="Google Shape;2220;p111">
            <a:hlinkClick r:id="rId5" action="ppaction://hlinksldjump"/>
            <a:extLst>
              <a:ext uri="{FF2B5EF4-FFF2-40B4-BE49-F238E27FC236}">
                <a16:creationId xmlns:a16="http://schemas.microsoft.com/office/drawing/2014/main" id="{6880D35A-B381-39B3-887F-4AF5521CC71D}"/>
              </a:ext>
            </a:extLst>
          </p:cNvPr>
          <p:cNvSpPr/>
          <p:nvPr/>
        </p:nvSpPr>
        <p:spPr>
          <a:xfrm>
            <a:off x="337227" y="2552247"/>
            <a:ext cx="62146" cy="54917"/>
          </a:xfrm>
          <a:custGeom>
            <a:avLst/>
            <a:gdLst/>
            <a:ahLst/>
            <a:cxnLst/>
            <a:rect l="l" t="t" r="r" b="b"/>
            <a:pathLst>
              <a:path w="7720" h="6822" extrusionOk="0">
                <a:moveTo>
                  <a:pt x="5255" y="811"/>
                </a:moveTo>
                <a:cubicBezTo>
                  <a:pt x="5651" y="811"/>
                  <a:pt x="6011" y="955"/>
                  <a:pt x="6280" y="1224"/>
                </a:cubicBezTo>
                <a:cubicBezTo>
                  <a:pt x="6839" y="1783"/>
                  <a:pt x="6839" y="2700"/>
                  <a:pt x="6280" y="3258"/>
                </a:cubicBezTo>
                <a:lnTo>
                  <a:pt x="3851" y="5670"/>
                </a:lnTo>
                <a:lnTo>
                  <a:pt x="1440" y="3258"/>
                </a:lnTo>
                <a:cubicBezTo>
                  <a:pt x="881" y="2700"/>
                  <a:pt x="881" y="1783"/>
                  <a:pt x="1440" y="1224"/>
                </a:cubicBezTo>
                <a:cubicBezTo>
                  <a:pt x="1709" y="955"/>
                  <a:pt x="2069" y="811"/>
                  <a:pt x="2465" y="811"/>
                </a:cubicBezTo>
                <a:cubicBezTo>
                  <a:pt x="2844" y="811"/>
                  <a:pt x="3204" y="955"/>
                  <a:pt x="3473" y="1224"/>
                </a:cubicBezTo>
                <a:lnTo>
                  <a:pt x="3851" y="1620"/>
                </a:lnTo>
                <a:lnTo>
                  <a:pt x="4247" y="1224"/>
                </a:lnTo>
                <a:cubicBezTo>
                  <a:pt x="4517" y="955"/>
                  <a:pt x="4876" y="811"/>
                  <a:pt x="5255" y="811"/>
                </a:cubicBezTo>
                <a:close/>
                <a:moveTo>
                  <a:pt x="2465" y="0"/>
                </a:moveTo>
                <a:cubicBezTo>
                  <a:pt x="1853" y="0"/>
                  <a:pt x="1296" y="235"/>
                  <a:pt x="864" y="667"/>
                </a:cubicBezTo>
                <a:cubicBezTo>
                  <a:pt x="0" y="1531"/>
                  <a:pt x="0" y="2952"/>
                  <a:pt x="864" y="3834"/>
                </a:cubicBezTo>
                <a:lnTo>
                  <a:pt x="3851" y="6822"/>
                </a:lnTo>
                <a:lnTo>
                  <a:pt x="6856" y="3834"/>
                </a:lnTo>
                <a:cubicBezTo>
                  <a:pt x="7720" y="2952"/>
                  <a:pt x="7720" y="1531"/>
                  <a:pt x="6856" y="667"/>
                </a:cubicBezTo>
                <a:cubicBezTo>
                  <a:pt x="6424" y="235"/>
                  <a:pt x="5867" y="0"/>
                  <a:pt x="5255" y="0"/>
                </a:cubicBezTo>
                <a:cubicBezTo>
                  <a:pt x="4751" y="0"/>
                  <a:pt x="4265" y="180"/>
                  <a:pt x="3851" y="487"/>
                </a:cubicBezTo>
                <a:cubicBezTo>
                  <a:pt x="3456" y="180"/>
                  <a:pt x="2969" y="0"/>
                  <a:pt x="2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21" name="Google Shape;2221;p1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278973B-6E0E-C5EF-D947-A3E9EF1A6CCB}"/>
              </a:ext>
            </a:extLst>
          </p:cNvPr>
          <p:cNvCxnSpPr/>
          <p:nvPr/>
        </p:nvCxnSpPr>
        <p:spPr>
          <a:xfrm>
            <a:off x="317292" y="2321850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22" name="Google Shape;2222;p11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6E67796-C73B-1435-C5F7-5722AACC178D}"/>
              </a:ext>
            </a:extLst>
          </p:cNvPr>
          <p:cNvCxnSpPr/>
          <p:nvPr/>
        </p:nvCxnSpPr>
        <p:spPr>
          <a:xfrm>
            <a:off x="317292" y="2821638"/>
            <a:ext cx="10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6165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 Use of AI in Marketing by Slidesgo">
  <a:themeElements>
    <a:clrScheme name="Simple Light">
      <a:dk1>
        <a:srgbClr val="191919"/>
      </a:dk1>
      <a:lt1>
        <a:srgbClr val="FFFFFF"/>
      </a:lt1>
      <a:dk2>
        <a:srgbClr val="E8E8E8"/>
      </a:dk2>
      <a:lt2>
        <a:srgbClr val="FFFFFF"/>
      </a:lt2>
      <a:accent1>
        <a:srgbClr val="0445FF"/>
      </a:accent1>
      <a:accent2>
        <a:srgbClr val="F2CEFF"/>
      </a:accent2>
      <a:accent3>
        <a:srgbClr val="8DF1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779</Words>
  <Application>Microsoft Office PowerPoint</Application>
  <PresentationFormat>如螢幕大小 (16:9)</PresentationFormat>
  <Paragraphs>127</Paragraphs>
  <Slides>26</Slides>
  <Notes>26</Notes>
  <HiddenSlides>3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7" baseType="lpstr">
      <vt:lpstr>微軟正黑體</vt:lpstr>
      <vt:lpstr>Darker Grotesque Medium</vt:lpstr>
      <vt:lpstr>Orbitron</vt:lpstr>
      <vt:lpstr>Orbitron;900</vt:lpstr>
      <vt:lpstr>Cambria Math</vt:lpstr>
      <vt:lpstr>微軟正黑體</vt:lpstr>
      <vt:lpstr>Darker Grotesque</vt:lpstr>
      <vt:lpstr>Orbitron Black</vt:lpstr>
      <vt:lpstr>Bebas Neue</vt:lpstr>
      <vt:lpstr>Arial</vt:lpstr>
      <vt:lpstr>The Use of AI in Marketing by Slidesgo</vt:lpstr>
      <vt:lpstr>Cryptocurrency Sentiment &amp; Market Visualization</vt:lpstr>
      <vt:lpstr>問題與動機</vt:lpstr>
      <vt:lpstr>問題與動機</vt:lpstr>
      <vt:lpstr>問題與動機</vt:lpstr>
      <vt:lpstr>資料來源與 前處理</vt:lpstr>
      <vt:lpstr>資料來源概覽</vt:lpstr>
      <vt:lpstr>資料來源概覽</vt:lpstr>
      <vt:lpstr>資料來源概覽</vt:lpstr>
      <vt:lpstr>資料來源概覽</vt:lpstr>
      <vt:lpstr>抓取與 ETL Pipeline</vt:lpstr>
      <vt:lpstr>PowerPoint 簡報</vt:lpstr>
      <vt:lpstr>PowerPoint 簡報</vt:lpstr>
      <vt:lpstr>PowerPoint 簡報</vt:lpstr>
      <vt:lpstr>視覺化 設計思路</vt:lpstr>
      <vt:lpstr>前端架構</vt:lpstr>
      <vt:lpstr>前端架構</vt:lpstr>
      <vt:lpstr>主儀表板設計</vt:lpstr>
      <vt:lpstr>UASTL 時間序列分解</vt:lpstr>
      <vt:lpstr>PowerPoint 簡報</vt:lpstr>
      <vt:lpstr>互動 Demo &amp;  案例洞見 </vt:lpstr>
      <vt:lpstr>DEMO</vt:lpstr>
      <vt:lpstr>成效評估  &amp; 未來擴展</vt:lpstr>
      <vt:lpstr>成效評估</vt:lpstr>
      <vt:lpstr>總結 Q&amp;A</vt:lpstr>
      <vt:lpstr>PowerPoint 簡報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Sentiment &amp; Market Visualization</dc:title>
  <cp:lastModifiedBy>corda C</cp:lastModifiedBy>
  <cp:revision>19</cp:revision>
  <dcterms:modified xsi:type="dcterms:W3CDTF">2025-06-18T11:25:39Z</dcterms:modified>
</cp:coreProperties>
</file>